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REAM">
    <p:bg>
      <p:bgPr>
        <a:solidFill>
          <a:srgbClr val="FBF6E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22960" y="1965960"/>
            <a:ext cx="10515600" cy="365760"/>
          </a:xfrm>
          <a:prstGeom prst="rect">
            <a:avLst/>
          </a:prstGeom>
          <a:noFill/>
          <a:ln/>
        </p:spPr>
        <p:txBody>
          <a:bodyPr wrap="square" lIns="0" tIns="0" rIns="0" bIns="0" rtlCol="0" anchor="ctr"/>
          <a:lstStyle/>
          <a:p>
            <a:pPr indent="0" marL="0">
              <a:buNone/>
            </a:pPr>
            <a:r>
              <a:rPr lang="en-US" sz="1300" spc="150" kern="0" dirty="0">
                <a:solidFill>
                  <a:srgbClr val="6B6255"/>
                </a:solidFill>
                <a:latin typeface="Calibri" pitchFamily="34" charset="0"/>
                <a:ea typeface="Calibri" pitchFamily="34" charset="-122"/>
                <a:cs typeface="Calibri" pitchFamily="34" charset="-120"/>
              </a:rPr>
              <a:t>DSA 3050A · Business Intelligence &amp; Visualization</a:t>
            </a:r>
            <a:endParaRPr lang="en-US" sz="1300" dirty="0"/>
          </a:p>
        </p:txBody>
      </p:sp>
      <p:sp>
        <p:nvSpPr>
          <p:cNvPr id="3" name="Text 1"/>
          <p:cNvSpPr/>
          <p:nvPr/>
        </p:nvSpPr>
        <p:spPr>
          <a:xfrm>
            <a:off x="822960" y="2377440"/>
            <a:ext cx="10515600" cy="1828800"/>
          </a:xfrm>
          <a:prstGeom prst="rect">
            <a:avLst/>
          </a:prstGeom>
          <a:noFill/>
          <a:ln/>
        </p:spPr>
        <p:txBody>
          <a:bodyPr wrap="square" lIns="0" tIns="0" rIns="0" bIns="0" rtlCol="0" anchor="ctr"/>
          <a:lstStyle/>
          <a:p>
            <a:pPr indent="0" marL="0">
              <a:lnSpc>
                <a:spcPts val="4600"/>
              </a:lnSpc>
              <a:buNone/>
            </a:pPr>
            <a:r>
              <a:rPr lang="en-US" sz="4000" b="1" dirty="0">
                <a:solidFill>
                  <a:srgbClr val="2B2621"/>
                </a:solidFill>
                <a:latin typeface="Georgia" pitchFamily="34" charset="0"/>
                <a:ea typeface="Georgia" pitchFamily="34" charset="-122"/>
                <a:cs typeface="Georgia" pitchFamily="34" charset="-120"/>
              </a:rPr>
              <a:t>Dubai &amp; Abu Dhabi Real Estate</a:t>
            </a:r>
            <a:endParaRPr lang="en-US" sz="4000" dirty="0"/>
          </a:p>
          <a:p>
            <a:pPr indent="0" marL="0">
              <a:lnSpc>
                <a:spcPts val="4600"/>
              </a:lnSpc>
              <a:buNone/>
            </a:pPr>
            <a:r>
              <a:rPr lang="en-US" sz="4000" b="1" dirty="0">
                <a:solidFill>
                  <a:srgbClr val="2B2621"/>
                </a:solidFill>
                <a:latin typeface="Georgia" pitchFamily="34" charset="0"/>
                <a:ea typeface="Georgia" pitchFamily="34" charset="-122"/>
                <a:cs typeface="Georgia" pitchFamily="34" charset="-120"/>
              </a:rPr>
              <a:t>Rental Market Intelligence Dashboard</a:t>
            </a:r>
            <a:endParaRPr lang="en-US" sz="4000" dirty="0"/>
          </a:p>
        </p:txBody>
      </p:sp>
      <p:sp>
        <p:nvSpPr>
          <p:cNvPr id="4" name="Text 2"/>
          <p:cNvSpPr/>
          <p:nvPr/>
        </p:nvSpPr>
        <p:spPr>
          <a:xfrm>
            <a:off x="822960" y="4343400"/>
            <a:ext cx="10515600" cy="365760"/>
          </a:xfrm>
          <a:prstGeom prst="rect">
            <a:avLst/>
          </a:prstGeom>
          <a:noFill/>
          <a:ln/>
        </p:spPr>
        <p:txBody>
          <a:bodyPr wrap="square" lIns="0" tIns="0" rIns="0" bIns="0" rtlCol="0" anchor="ctr"/>
          <a:lstStyle/>
          <a:p>
            <a:pPr indent="0" marL="0">
              <a:buNone/>
            </a:pPr>
            <a:r>
              <a:rPr lang="en-US" sz="1500" dirty="0">
                <a:solidFill>
                  <a:srgbClr val="6B6255"/>
                </a:solidFill>
                <a:latin typeface="Calibri" pitchFamily="34" charset="0"/>
                <a:ea typeface="Calibri" pitchFamily="34" charset="-122"/>
                <a:cs typeface="Calibri" pitchFamily="34" charset="-120"/>
              </a:rPr>
              <a:t>Group Project — Group 9</a:t>
            </a:r>
            <a:endParaRPr lang="en-US" sz="1500" dirty="0"/>
          </a:p>
        </p:txBody>
      </p:sp>
      <p:sp>
        <p:nvSpPr>
          <p:cNvPr id="5" name="Text 3"/>
          <p:cNvSpPr/>
          <p:nvPr/>
        </p:nvSpPr>
        <p:spPr>
          <a:xfrm>
            <a:off x="822960" y="6035040"/>
            <a:ext cx="10515600" cy="320040"/>
          </a:xfrm>
          <a:prstGeom prst="rect">
            <a:avLst/>
          </a:prstGeom>
          <a:noFill/>
          <a:ln/>
        </p:spPr>
        <p:txBody>
          <a:bodyPr wrap="square" lIns="0" tIns="0" rIns="0" bIns="0" rtlCol="0" anchor="ctr"/>
          <a:lstStyle/>
          <a:p>
            <a:pPr indent="0" marL="0">
              <a:buNone/>
            </a:pPr>
            <a:r>
              <a:rPr lang="en-US" sz="1100" dirty="0">
                <a:solidFill>
                  <a:srgbClr val="6B6255"/>
                </a:solidFill>
                <a:latin typeface="Calibri" pitchFamily="34" charset="0"/>
                <a:ea typeface="Calibri" pitchFamily="34" charset="-122"/>
                <a:cs typeface="Calibri" pitchFamily="34" charset="-120"/>
              </a:rPr>
              <a:t>United States International University — Africa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6B6255"/>
                </a:solidFill>
                <a:latin typeface="Calibri" pitchFamily="34" charset="0"/>
                <a:ea typeface="Calibri" pitchFamily="34" charset="-122"/>
                <a:cs typeface="Calibri" pitchFamily="34" charset="-120"/>
              </a:rPr>
              <a:t>BUSINESS PROBLEM</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000" b="1" dirty="0">
                <a:solidFill>
                  <a:srgbClr val="2B2621"/>
                </a:solidFill>
                <a:latin typeface="Georgia" pitchFamily="34" charset="0"/>
                <a:ea typeface="Georgia" pitchFamily="34" charset="-122"/>
                <a:cs typeface="Georgia" pitchFamily="34" charset="-120"/>
              </a:rPr>
              <a:t>A single view of the UAE rental market</a:t>
            </a:r>
            <a:endParaRPr lang="en-US" sz="3000" dirty="0"/>
          </a:p>
        </p:txBody>
      </p:sp>
      <p:sp>
        <p:nvSpPr>
          <p:cNvPr id="4" name="Text 2"/>
          <p:cNvSpPr/>
          <p:nvPr/>
        </p:nvSpPr>
        <p:spPr>
          <a:xfrm>
            <a:off x="640080" y="1920240"/>
            <a:ext cx="6949440" cy="1828800"/>
          </a:xfrm>
          <a:prstGeom prst="rect">
            <a:avLst/>
          </a:prstGeom>
          <a:noFill/>
          <a:ln/>
        </p:spPr>
        <p:txBody>
          <a:bodyPr wrap="square" lIns="0" tIns="0" rIns="0" bIns="0" rtlCol="0" anchor="ctr"/>
          <a:lstStyle/>
          <a:p>
            <a:pPr indent="0" marL="0">
              <a:lnSpc>
                <a:spcPts val="2400"/>
              </a:lnSpc>
              <a:buNone/>
            </a:pPr>
            <a:r>
              <a:rPr lang="en-US" sz="1600" dirty="0">
                <a:solidFill>
                  <a:srgbClr val="2B2621"/>
                </a:solidFill>
                <a:latin typeface="Georgia" pitchFamily="34" charset="0"/>
                <a:ea typeface="Georgia" pitchFamily="34" charset="-122"/>
                <a:cs typeface="Georgia" pitchFamily="34" charset="-120"/>
              </a:rPr>
              <a:t>Real estate agents, investors, and analysts currently work with fragmented listing data across Dubai, Abu Dhabi, and the other emirates. There is no centralized, interactive tool to compare rental pricing, demand, and market performance by location and property type.</a:t>
            </a:r>
            <a:endParaRPr lang="en-US" sz="1600" dirty="0"/>
          </a:p>
        </p:txBody>
      </p:sp>
      <p:sp>
        <p:nvSpPr>
          <p:cNvPr id="5" name="Text 3"/>
          <p:cNvSpPr/>
          <p:nvPr/>
        </p:nvSpPr>
        <p:spPr>
          <a:xfrm>
            <a:off x="640080" y="3794760"/>
            <a:ext cx="7315200" cy="365760"/>
          </a:xfrm>
          <a:prstGeom prst="rect">
            <a:avLst/>
          </a:prstGeom>
          <a:noFill/>
          <a:ln/>
        </p:spPr>
        <p:txBody>
          <a:bodyPr wrap="square" lIns="0" tIns="0" rIns="0" bIns="0" rtlCol="0" anchor="ctr"/>
          <a:lstStyle/>
          <a:p>
            <a:pPr indent="0" marL="0">
              <a:buNone/>
            </a:pPr>
            <a:r>
              <a:rPr lang="en-US" sz="1300" b="1" dirty="0">
                <a:solidFill>
                  <a:srgbClr val="2B2621"/>
                </a:solidFill>
                <a:latin typeface="Calibri" pitchFamily="34" charset="0"/>
                <a:ea typeface="Calibri" pitchFamily="34" charset="-122"/>
                <a:cs typeface="Calibri" pitchFamily="34" charset="-120"/>
              </a:rPr>
              <a:t>Key business questions</a:t>
            </a:r>
            <a:endParaRPr lang="en-US" sz="1300" dirty="0"/>
          </a:p>
        </p:txBody>
      </p:sp>
      <p:sp>
        <p:nvSpPr>
          <p:cNvPr id="6" name="Text 4"/>
          <p:cNvSpPr/>
          <p:nvPr/>
        </p:nvSpPr>
        <p:spPr>
          <a:xfrm>
            <a:off x="640080" y="4206240"/>
            <a:ext cx="7498080" cy="201168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B2621"/>
                </a:solidFill>
                <a:latin typeface="Calibri" pitchFamily="34" charset="0"/>
                <a:ea typeface="Calibri" pitchFamily="34" charset="-122"/>
                <a:cs typeface="Calibri" pitchFamily="34" charset="-120"/>
              </a:rPr>
              <a:t>Which locations command the highest average rents?</a:t>
            </a:r>
            <a:endParaRPr lang="en-US" sz="1400" dirty="0"/>
          </a:p>
          <a:p>
            <a:pPr marL="342900" indent="-342900">
              <a:spcAft>
                <a:spcPts val="800"/>
              </a:spcAft>
              <a:buSzPct val="100000"/>
              <a:buChar char="–"/>
            </a:pPr>
            <a:r>
              <a:rPr lang="en-US" sz="1400" dirty="0">
                <a:solidFill>
                  <a:srgbClr val="2B2621"/>
                </a:solidFill>
                <a:latin typeface="Calibri" pitchFamily="34" charset="0"/>
                <a:ea typeface="Calibri" pitchFamily="34" charset="-122"/>
                <a:cs typeface="Calibri" pitchFamily="34" charset="-120"/>
              </a:rPr>
              <a:t>Is the market growing month-on-month?</a:t>
            </a:r>
            <a:endParaRPr lang="en-US" sz="1400" dirty="0"/>
          </a:p>
          <a:p>
            <a:pPr marL="342900" indent="-342900">
              <a:spcAft>
                <a:spcPts val="800"/>
              </a:spcAft>
              <a:buSzPct val="100000"/>
              <a:buChar char="–"/>
            </a:pPr>
            <a:r>
              <a:rPr lang="en-US" sz="1400" dirty="0">
                <a:solidFill>
                  <a:srgbClr val="2B2621"/>
                </a:solidFill>
                <a:latin typeface="Calibri" pitchFamily="34" charset="0"/>
                <a:ea typeface="Calibri" pitchFamily="34" charset="-122"/>
                <a:cs typeface="Calibri" pitchFamily="34" charset="-120"/>
              </a:rPr>
              <a:t>What share of listings are furnished vs. unfurnished?</a:t>
            </a:r>
            <a:endParaRPr lang="en-US" sz="1400" dirty="0"/>
          </a:p>
          <a:p>
            <a:pPr marL="342900" indent="-342900">
              <a:spcAft>
                <a:spcPts val="800"/>
              </a:spcAft>
              <a:buSzPct val="100000"/>
              <a:buChar char="–"/>
            </a:pPr>
            <a:r>
              <a:rPr lang="en-US" sz="1400" dirty="0">
                <a:solidFill>
                  <a:srgbClr val="2B2621"/>
                </a:solidFill>
                <a:latin typeface="Calibri" pitchFamily="34" charset="0"/>
                <a:ea typeface="Calibri" pitchFamily="34" charset="-122"/>
                <a:cs typeface="Calibri" pitchFamily="34" charset="-120"/>
              </a:rPr>
              <a:t>Which property types are most in demand, by city?</a:t>
            </a:r>
            <a:endParaRPr lang="en-US" sz="1400" dirty="0"/>
          </a:p>
          <a:p>
            <a:pPr marL="342900" indent="-342900">
              <a:spcAft>
                <a:spcPts val="800"/>
              </a:spcAft>
              <a:buSzPct val="100000"/>
              <a:buChar char="–"/>
            </a:pPr>
            <a:r>
              <a:rPr lang="en-US" sz="1400" dirty="0">
                <a:solidFill>
                  <a:srgbClr val="2B2621"/>
                </a:solidFill>
                <a:latin typeface="Calibri" pitchFamily="34" charset="0"/>
                <a:ea typeface="Calibri" pitchFamily="34" charset="-122"/>
                <a:cs typeface="Calibri" pitchFamily="34" charset="-120"/>
              </a:rPr>
              <a:t>How does rent per square foot vary by neighborhood?</a:t>
            </a:r>
            <a:endParaRPr lang="en-US" sz="1400" dirty="0"/>
          </a:p>
        </p:txBody>
      </p:sp>
      <p:sp>
        <p:nvSpPr>
          <p:cNvPr id="7" name="Text 5"/>
          <p:cNvSpPr/>
          <p:nvPr/>
        </p:nvSpPr>
        <p:spPr>
          <a:xfrm>
            <a:off x="640080" y="6446520"/>
            <a:ext cx="7315200" cy="274320"/>
          </a:xfrm>
          <a:prstGeom prst="rect">
            <a:avLst/>
          </a:prstGeom>
          <a:noFill/>
          <a:ln/>
        </p:spPr>
        <p:txBody>
          <a:bodyPr wrap="square" lIns="0" tIns="0" rIns="0" bIns="0" rtlCol="0" anchor="ctr"/>
          <a:lstStyle/>
          <a:p>
            <a:pPr indent="0" marL="0">
              <a:buNone/>
            </a:pPr>
            <a:r>
              <a:rPr lang="en-US" sz="1000" dirty="0">
                <a:solidFill>
                  <a:srgbClr val="6B6255"/>
                </a:solidFill>
                <a:latin typeface="Calibri" pitchFamily="34" charset="0"/>
                <a:ea typeface="Calibri" pitchFamily="34" charset="-122"/>
                <a:cs typeface="Calibri" pitchFamily="34" charset="-120"/>
              </a:rPr>
              <a:t>Business Problem</a:t>
            </a:r>
            <a:endParaRPr lang="en-US" sz="1000" dirty="0"/>
          </a:p>
        </p:txBody>
      </p:sp>
      <p:sp>
        <p:nvSpPr>
          <p:cNvPr id="8" name="Text 6"/>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6B6255"/>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6B6255"/>
                </a:solidFill>
                <a:latin typeface="Calibri" pitchFamily="34" charset="0"/>
                <a:ea typeface="Calibri" pitchFamily="34" charset="-122"/>
                <a:cs typeface="Calibri" pitchFamily="34" charset="-120"/>
              </a:rPr>
              <a:t>THE DATASET</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000" b="1" dirty="0">
                <a:solidFill>
                  <a:srgbClr val="2B2621"/>
                </a:solidFill>
                <a:latin typeface="Georgia" pitchFamily="34" charset="0"/>
                <a:ea typeface="Georgia" pitchFamily="34" charset="-122"/>
                <a:cs typeface="Georgia" pitchFamily="34" charset="-120"/>
              </a:rPr>
              <a:t>73,742 property listings across the UAE</a:t>
            </a:r>
            <a:endParaRPr lang="en-US" sz="3000" dirty="0"/>
          </a:p>
        </p:txBody>
      </p:sp>
      <p:sp>
        <p:nvSpPr>
          <p:cNvPr id="4" name="Text 2"/>
          <p:cNvSpPr/>
          <p:nvPr/>
        </p:nvSpPr>
        <p:spPr>
          <a:xfrm>
            <a:off x="640080" y="2103120"/>
            <a:ext cx="2468880" cy="822960"/>
          </a:xfrm>
          <a:prstGeom prst="rect">
            <a:avLst/>
          </a:prstGeom>
          <a:noFill/>
          <a:ln/>
        </p:spPr>
        <p:txBody>
          <a:bodyPr wrap="square" lIns="0" tIns="0" rIns="0" bIns="0" rtlCol="0" anchor="ctr"/>
          <a:lstStyle/>
          <a:p>
            <a:pPr indent="0" marL="0">
              <a:buNone/>
            </a:pPr>
            <a:r>
              <a:rPr lang="en-US" sz="3600" b="1" dirty="0">
                <a:solidFill>
                  <a:srgbClr val="2B2621"/>
                </a:solidFill>
                <a:latin typeface="Georgia" pitchFamily="34" charset="0"/>
                <a:ea typeface="Georgia" pitchFamily="34" charset="-122"/>
                <a:cs typeface="Georgia" pitchFamily="34" charset="-120"/>
              </a:rPr>
              <a:t>73,742</a:t>
            </a:r>
            <a:endParaRPr lang="en-US" sz="3600" dirty="0"/>
          </a:p>
        </p:txBody>
      </p:sp>
      <p:sp>
        <p:nvSpPr>
          <p:cNvPr id="5" name="Text 3"/>
          <p:cNvSpPr/>
          <p:nvPr/>
        </p:nvSpPr>
        <p:spPr>
          <a:xfrm>
            <a:off x="640080" y="2880360"/>
            <a:ext cx="2468880" cy="365760"/>
          </a:xfrm>
          <a:prstGeom prst="rect">
            <a:avLst/>
          </a:prstGeom>
          <a:noFill/>
          <a:ln/>
        </p:spPr>
        <p:txBody>
          <a:bodyPr wrap="square" lIns="0" tIns="0" rIns="0" bIns="0" rtlCol="0" anchor="ctr"/>
          <a:lstStyle/>
          <a:p>
            <a:pPr indent="0" marL="0">
              <a:buNone/>
            </a:pPr>
            <a:r>
              <a:rPr lang="en-US" sz="1200" dirty="0">
                <a:solidFill>
                  <a:srgbClr val="6B6255"/>
                </a:solidFill>
                <a:latin typeface="Calibri" pitchFamily="34" charset="0"/>
                <a:ea typeface="Calibri" pitchFamily="34" charset="-122"/>
                <a:cs typeface="Calibri" pitchFamily="34" charset="-120"/>
              </a:rPr>
              <a:t>Rows</a:t>
            </a:r>
            <a:endParaRPr lang="en-US" sz="1200" dirty="0"/>
          </a:p>
        </p:txBody>
      </p:sp>
      <p:sp>
        <p:nvSpPr>
          <p:cNvPr id="6" name="Text 4"/>
          <p:cNvSpPr/>
          <p:nvPr/>
        </p:nvSpPr>
        <p:spPr>
          <a:xfrm>
            <a:off x="3429000" y="2103120"/>
            <a:ext cx="2468880" cy="822960"/>
          </a:xfrm>
          <a:prstGeom prst="rect">
            <a:avLst/>
          </a:prstGeom>
          <a:noFill/>
          <a:ln/>
        </p:spPr>
        <p:txBody>
          <a:bodyPr wrap="square" lIns="0" tIns="0" rIns="0" bIns="0" rtlCol="0" anchor="ctr"/>
          <a:lstStyle/>
          <a:p>
            <a:pPr indent="0" marL="0">
              <a:buNone/>
            </a:pPr>
            <a:r>
              <a:rPr lang="en-US" sz="3600" b="1" dirty="0">
                <a:solidFill>
                  <a:srgbClr val="2B2621"/>
                </a:solidFill>
                <a:latin typeface="Georgia" pitchFamily="34" charset="0"/>
                <a:ea typeface="Georgia" pitchFamily="34" charset="-122"/>
                <a:cs typeface="Georgia" pitchFamily="34" charset="-120"/>
              </a:rPr>
              <a:t>17</a:t>
            </a:r>
            <a:endParaRPr lang="en-US" sz="3600" dirty="0"/>
          </a:p>
        </p:txBody>
      </p:sp>
      <p:sp>
        <p:nvSpPr>
          <p:cNvPr id="7" name="Text 5"/>
          <p:cNvSpPr/>
          <p:nvPr/>
        </p:nvSpPr>
        <p:spPr>
          <a:xfrm>
            <a:off x="3429000" y="2880360"/>
            <a:ext cx="2468880" cy="365760"/>
          </a:xfrm>
          <a:prstGeom prst="rect">
            <a:avLst/>
          </a:prstGeom>
          <a:noFill/>
          <a:ln/>
        </p:spPr>
        <p:txBody>
          <a:bodyPr wrap="square" lIns="0" tIns="0" rIns="0" bIns="0" rtlCol="0" anchor="ctr"/>
          <a:lstStyle/>
          <a:p>
            <a:pPr indent="0" marL="0">
              <a:buNone/>
            </a:pPr>
            <a:r>
              <a:rPr lang="en-US" sz="1200" dirty="0">
                <a:solidFill>
                  <a:srgbClr val="6B6255"/>
                </a:solidFill>
                <a:latin typeface="Calibri" pitchFamily="34" charset="0"/>
                <a:ea typeface="Calibri" pitchFamily="34" charset="-122"/>
                <a:cs typeface="Calibri" pitchFamily="34" charset="-120"/>
              </a:rPr>
              <a:t>Source columns</a:t>
            </a:r>
            <a:endParaRPr lang="en-US" sz="1200" dirty="0"/>
          </a:p>
        </p:txBody>
      </p:sp>
      <p:sp>
        <p:nvSpPr>
          <p:cNvPr id="8" name="Text 6"/>
          <p:cNvSpPr/>
          <p:nvPr/>
        </p:nvSpPr>
        <p:spPr>
          <a:xfrm>
            <a:off x="6217920" y="2103120"/>
            <a:ext cx="2468880" cy="822960"/>
          </a:xfrm>
          <a:prstGeom prst="rect">
            <a:avLst/>
          </a:prstGeom>
          <a:noFill/>
          <a:ln/>
        </p:spPr>
        <p:txBody>
          <a:bodyPr wrap="square" lIns="0" tIns="0" rIns="0" bIns="0" rtlCol="0" anchor="ctr"/>
          <a:lstStyle/>
          <a:p>
            <a:pPr indent="0" marL="0">
              <a:buNone/>
            </a:pPr>
            <a:r>
              <a:rPr lang="en-US" sz="3600" b="1" dirty="0">
                <a:solidFill>
                  <a:srgbClr val="2B2621"/>
                </a:solidFill>
                <a:latin typeface="Georgia" pitchFamily="34" charset="0"/>
                <a:ea typeface="Georgia" pitchFamily="34" charset="-122"/>
                <a:cs typeface="Georgia" pitchFamily="34" charset="-120"/>
              </a:rPr>
              <a:t>8</a:t>
            </a:r>
            <a:endParaRPr lang="en-US" sz="3600" dirty="0"/>
          </a:p>
        </p:txBody>
      </p:sp>
      <p:sp>
        <p:nvSpPr>
          <p:cNvPr id="9" name="Text 7"/>
          <p:cNvSpPr/>
          <p:nvPr/>
        </p:nvSpPr>
        <p:spPr>
          <a:xfrm>
            <a:off x="6217920" y="2880360"/>
            <a:ext cx="2468880" cy="365760"/>
          </a:xfrm>
          <a:prstGeom prst="rect">
            <a:avLst/>
          </a:prstGeom>
          <a:noFill/>
          <a:ln/>
        </p:spPr>
        <p:txBody>
          <a:bodyPr wrap="square" lIns="0" tIns="0" rIns="0" bIns="0" rtlCol="0" anchor="ctr"/>
          <a:lstStyle/>
          <a:p>
            <a:pPr indent="0" marL="0">
              <a:buNone/>
            </a:pPr>
            <a:r>
              <a:rPr lang="en-US" sz="1200" dirty="0">
                <a:solidFill>
                  <a:srgbClr val="6B6255"/>
                </a:solidFill>
                <a:latin typeface="Calibri" pitchFamily="34" charset="0"/>
                <a:ea typeface="Calibri" pitchFamily="34" charset="-122"/>
                <a:cs typeface="Calibri" pitchFamily="34" charset="-120"/>
              </a:rPr>
              <a:t>Cities covered</a:t>
            </a:r>
            <a:endParaRPr lang="en-US" sz="1200" dirty="0"/>
          </a:p>
        </p:txBody>
      </p:sp>
      <p:sp>
        <p:nvSpPr>
          <p:cNvPr id="10" name="Text 8"/>
          <p:cNvSpPr/>
          <p:nvPr/>
        </p:nvSpPr>
        <p:spPr>
          <a:xfrm>
            <a:off x="9006840" y="2103120"/>
            <a:ext cx="2468880" cy="822960"/>
          </a:xfrm>
          <a:prstGeom prst="rect">
            <a:avLst/>
          </a:prstGeom>
          <a:noFill/>
          <a:ln/>
        </p:spPr>
        <p:txBody>
          <a:bodyPr wrap="square" lIns="0" tIns="0" rIns="0" bIns="0" rtlCol="0" anchor="ctr"/>
          <a:lstStyle/>
          <a:p>
            <a:pPr indent="0" marL="0">
              <a:buNone/>
            </a:pPr>
            <a:r>
              <a:rPr lang="en-US" sz="3600" b="1" dirty="0">
                <a:solidFill>
                  <a:srgbClr val="2B2621"/>
                </a:solidFill>
                <a:latin typeface="Georgia" pitchFamily="34" charset="0"/>
                <a:ea typeface="Georgia" pitchFamily="34" charset="-122"/>
                <a:cs typeface="Georgia" pitchFamily="34" charset="-120"/>
              </a:rPr>
              <a:t>2024</a:t>
            </a:r>
            <a:endParaRPr lang="en-US" sz="3600" dirty="0"/>
          </a:p>
        </p:txBody>
      </p:sp>
      <p:sp>
        <p:nvSpPr>
          <p:cNvPr id="11" name="Text 9"/>
          <p:cNvSpPr/>
          <p:nvPr/>
        </p:nvSpPr>
        <p:spPr>
          <a:xfrm>
            <a:off x="9006840" y="2880360"/>
            <a:ext cx="2468880" cy="365760"/>
          </a:xfrm>
          <a:prstGeom prst="rect">
            <a:avLst/>
          </a:prstGeom>
          <a:noFill/>
          <a:ln/>
        </p:spPr>
        <p:txBody>
          <a:bodyPr wrap="square" lIns="0" tIns="0" rIns="0" bIns="0" rtlCol="0" anchor="ctr"/>
          <a:lstStyle/>
          <a:p>
            <a:pPr indent="0" marL="0">
              <a:buNone/>
            </a:pPr>
            <a:r>
              <a:rPr lang="en-US" sz="1200" dirty="0">
                <a:solidFill>
                  <a:srgbClr val="6B6255"/>
                </a:solidFill>
                <a:latin typeface="Calibri" pitchFamily="34" charset="0"/>
                <a:ea typeface="Calibri" pitchFamily="34" charset="-122"/>
                <a:cs typeface="Calibri" pitchFamily="34" charset="-120"/>
              </a:rPr>
              <a:t>Posting date range</a:t>
            </a:r>
            <a:endParaRPr lang="en-US" sz="1200" dirty="0"/>
          </a:p>
        </p:txBody>
      </p:sp>
      <p:sp>
        <p:nvSpPr>
          <p:cNvPr id="12" name="Shape 10"/>
          <p:cNvSpPr/>
          <p:nvPr/>
        </p:nvSpPr>
        <p:spPr>
          <a:xfrm>
            <a:off x="640080" y="3657600"/>
            <a:ext cx="10881360" cy="0"/>
          </a:xfrm>
          <a:prstGeom prst="line">
            <a:avLst/>
          </a:prstGeom>
          <a:noFill/>
          <a:ln w="12700">
            <a:solidFill>
              <a:srgbClr val="DCD4C2"/>
            </a:solidFill>
            <a:prstDash val="solid"/>
          </a:ln>
        </p:spPr>
      </p:sp>
      <p:sp>
        <p:nvSpPr>
          <p:cNvPr id="13" name="Text 11"/>
          <p:cNvSpPr/>
          <p:nvPr/>
        </p:nvSpPr>
        <p:spPr>
          <a:xfrm>
            <a:off x="640080" y="3931920"/>
            <a:ext cx="10881360" cy="731520"/>
          </a:xfrm>
          <a:prstGeom prst="rect">
            <a:avLst/>
          </a:prstGeom>
          <a:noFill/>
          <a:ln/>
        </p:spPr>
        <p:txBody>
          <a:bodyPr wrap="square" lIns="0" tIns="0" rIns="0" bIns="0" rtlCol="0" anchor="ctr"/>
          <a:lstStyle/>
          <a:p>
            <a:pPr indent="0" marL="0">
              <a:lnSpc>
                <a:spcPts val="2000"/>
              </a:lnSpc>
              <a:buNone/>
            </a:pPr>
            <a:r>
              <a:rPr lang="en-US" sz="1300" dirty="0">
                <a:solidFill>
                  <a:srgbClr val="2B2621"/>
                </a:solidFill>
                <a:latin typeface="Calibri" pitchFamily="34" charset="0"/>
                <a:ea typeface="Calibri" pitchFamily="34" charset="-122"/>
                <a:cs typeface="Calibri" pitchFamily="34" charset="-120"/>
              </a:rPr>
              <a:t>Dubai (34,250) · Abu Dhabi (23,324) · Sharjah (9,516) · Ajman (4,704) · Al Ain (1,040) · Ras Al Khaimah (816) · Umm Al Quwain (65) · Fujairah (27)</a:t>
            </a:r>
            <a:endParaRPr lang="en-US" sz="1300" dirty="0"/>
          </a:p>
        </p:txBody>
      </p:sp>
      <p:sp>
        <p:nvSpPr>
          <p:cNvPr id="14" name="Text 12"/>
          <p:cNvSpPr/>
          <p:nvPr/>
        </p:nvSpPr>
        <p:spPr>
          <a:xfrm>
            <a:off x="640080" y="4937760"/>
            <a:ext cx="10881360" cy="731520"/>
          </a:xfrm>
          <a:prstGeom prst="rect">
            <a:avLst/>
          </a:prstGeom>
          <a:noFill/>
          <a:ln/>
        </p:spPr>
        <p:txBody>
          <a:bodyPr wrap="square" lIns="0" tIns="0" rIns="0" bIns="0" rtlCol="0" anchor="ctr"/>
          <a:lstStyle/>
          <a:p>
            <a:pPr indent="0" marL="0">
              <a:lnSpc>
                <a:spcPts val="2200"/>
              </a:lnSpc>
              <a:buNone/>
            </a:pPr>
            <a:r>
              <a:rPr lang="en-US" sz="1500" i="1" dirty="0">
                <a:solidFill>
                  <a:srgbClr val="6B6255"/>
                </a:solidFill>
                <a:latin typeface="Georgia" pitchFamily="34" charset="0"/>
                <a:ea typeface="Georgia" pitchFamily="34" charset="-122"/>
                <a:cs typeface="Georgia" pitchFamily="34" charset="-120"/>
              </a:rPr>
              <a:t>Fields include address, rent, beds, baths, type, area, rent category, furnishing, purpose, posted date, listing age, location, city, latitude, and longitude.</a:t>
            </a:r>
            <a:endParaRPr lang="en-US" sz="1500" dirty="0"/>
          </a:p>
        </p:txBody>
      </p:sp>
      <p:sp>
        <p:nvSpPr>
          <p:cNvPr id="15" name="Text 13"/>
          <p:cNvSpPr/>
          <p:nvPr/>
        </p:nvSpPr>
        <p:spPr>
          <a:xfrm>
            <a:off x="640080" y="6446520"/>
            <a:ext cx="7315200" cy="274320"/>
          </a:xfrm>
          <a:prstGeom prst="rect">
            <a:avLst/>
          </a:prstGeom>
          <a:noFill/>
          <a:ln/>
        </p:spPr>
        <p:txBody>
          <a:bodyPr wrap="square" lIns="0" tIns="0" rIns="0" bIns="0" rtlCol="0" anchor="ctr"/>
          <a:lstStyle/>
          <a:p>
            <a:pPr indent="0" marL="0">
              <a:buNone/>
            </a:pPr>
            <a:r>
              <a:rPr lang="en-US" sz="1000" dirty="0">
                <a:solidFill>
                  <a:srgbClr val="6B6255"/>
                </a:solidFill>
                <a:latin typeface="Calibri" pitchFamily="34" charset="0"/>
                <a:ea typeface="Calibri" pitchFamily="34" charset="-122"/>
                <a:cs typeface="Calibri" pitchFamily="34" charset="-120"/>
              </a:rPr>
              <a:t>Dataset</a:t>
            </a:r>
            <a:endParaRPr lang="en-US" sz="1000" dirty="0"/>
          </a:p>
        </p:txBody>
      </p:sp>
      <p:sp>
        <p:nvSpPr>
          <p:cNvPr id="16" name="Text 14"/>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6B6255"/>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6B6255"/>
                </a:solidFill>
                <a:latin typeface="Calibri" pitchFamily="34" charset="0"/>
                <a:ea typeface="Calibri" pitchFamily="34" charset="-122"/>
                <a:cs typeface="Calibri" pitchFamily="34" charset="-120"/>
              </a:rPr>
              <a:t>PREPARATION</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000" b="1" dirty="0">
                <a:solidFill>
                  <a:srgbClr val="2B2621"/>
                </a:solidFill>
                <a:latin typeface="Georgia" pitchFamily="34" charset="0"/>
                <a:ea typeface="Georgia" pitchFamily="34" charset="-122"/>
                <a:cs typeface="Georgia" pitchFamily="34" charset="-120"/>
              </a:rPr>
              <a:t>Cleaning and shaping the data in Power Query</a:t>
            </a:r>
            <a:endParaRPr lang="en-US" sz="3000" dirty="0"/>
          </a:p>
        </p:txBody>
      </p:sp>
      <p:sp>
        <p:nvSpPr>
          <p:cNvPr id="4" name="Text 2"/>
          <p:cNvSpPr/>
          <p:nvPr/>
        </p:nvSpPr>
        <p:spPr>
          <a:xfrm>
            <a:off x="640080" y="1965960"/>
            <a:ext cx="3383280" cy="365760"/>
          </a:xfrm>
          <a:prstGeom prst="rect">
            <a:avLst/>
          </a:prstGeom>
          <a:noFill/>
          <a:ln/>
        </p:spPr>
        <p:txBody>
          <a:bodyPr wrap="square" lIns="0" tIns="0" rIns="0" bIns="0" rtlCol="0" anchor="ctr"/>
          <a:lstStyle/>
          <a:p>
            <a:pPr indent="0" marL="0">
              <a:buNone/>
            </a:pPr>
            <a:r>
              <a:rPr lang="en-US" sz="1300" b="1" dirty="0">
                <a:solidFill>
                  <a:srgbClr val="2B2621"/>
                </a:solidFill>
                <a:latin typeface="Calibri" pitchFamily="34" charset="0"/>
                <a:ea typeface="Calibri" pitchFamily="34" charset="-122"/>
                <a:cs typeface="Calibri" pitchFamily="34" charset="-120"/>
              </a:rPr>
              <a:t>Cleaning</a:t>
            </a:r>
            <a:endParaRPr lang="en-US" sz="1300" dirty="0"/>
          </a:p>
        </p:txBody>
      </p:sp>
      <p:sp>
        <p:nvSpPr>
          <p:cNvPr id="5" name="Text 3"/>
          <p:cNvSpPr/>
          <p:nvPr/>
        </p:nvSpPr>
        <p:spPr>
          <a:xfrm>
            <a:off x="640080" y="2423160"/>
            <a:ext cx="3383280" cy="320040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300" dirty="0">
                <a:solidFill>
                  <a:srgbClr val="2B2621"/>
                </a:solidFill>
                <a:latin typeface="Calibri" pitchFamily="34" charset="0"/>
                <a:ea typeface="Calibri" pitchFamily="34" charset="-122"/>
                <a:cs typeface="Calibri" pitchFamily="34" charset="-120"/>
              </a:rPr>
              <a:t>Renamed unclear columns</a:t>
            </a:r>
            <a:endParaRPr lang="en-US" sz="1300" dirty="0"/>
          </a:p>
          <a:p>
            <a:pPr marL="342900" indent="-342900">
              <a:lnSpc>
                <a:spcPts val="1800"/>
              </a:lnSpc>
              <a:spcAft>
                <a:spcPts val="1000"/>
              </a:spcAft>
              <a:buSzPct val="100000"/>
              <a:buChar char="–"/>
            </a:pPr>
            <a:r>
              <a:rPr lang="en-US" sz="1300" dirty="0">
                <a:solidFill>
                  <a:srgbClr val="2B2621"/>
                </a:solidFill>
                <a:latin typeface="Calibri" pitchFamily="34" charset="0"/>
                <a:ea typeface="Calibri" pitchFamily="34" charset="-122"/>
                <a:cs typeface="Calibri" pitchFamily="34" charset="-120"/>
              </a:rPr>
              <a:t>Corrected data types</a:t>
            </a:r>
            <a:endParaRPr lang="en-US" sz="1300" dirty="0"/>
          </a:p>
          <a:p>
            <a:pPr marL="342900" indent="-342900">
              <a:lnSpc>
                <a:spcPts val="1800"/>
              </a:lnSpc>
              <a:spcAft>
                <a:spcPts val="1000"/>
              </a:spcAft>
              <a:buSzPct val="100000"/>
              <a:buChar char="–"/>
            </a:pPr>
            <a:r>
              <a:rPr lang="en-US" sz="1300" dirty="0">
                <a:solidFill>
                  <a:srgbClr val="2B2621"/>
                </a:solidFill>
                <a:latin typeface="Calibri" pitchFamily="34" charset="0"/>
                <a:ea typeface="Calibri" pitchFamily="34" charset="-122"/>
                <a:cs typeface="Calibri" pitchFamily="34" charset="-120"/>
              </a:rPr>
              <a:t>Trimmed and cleaned text</a:t>
            </a:r>
            <a:endParaRPr lang="en-US" sz="1300" dirty="0"/>
          </a:p>
          <a:p>
            <a:pPr marL="342900" indent="-342900">
              <a:lnSpc>
                <a:spcPts val="1800"/>
              </a:lnSpc>
              <a:spcAft>
                <a:spcPts val="1000"/>
              </a:spcAft>
              <a:buSzPct val="100000"/>
              <a:buChar char="–"/>
            </a:pPr>
            <a:r>
              <a:rPr lang="en-US" sz="1300" dirty="0">
                <a:solidFill>
                  <a:srgbClr val="2B2621"/>
                </a:solidFill>
                <a:latin typeface="Calibri" pitchFamily="34" charset="0"/>
                <a:ea typeface="Calibri" pitchFamily="34" charset="-122"/>
                <a:cs typeface="Calibri" pitchFamily="34" charset="-120"/>
              </a:rPr>
              <a:t>Standardized inconsistent values</a:t>
            </a:r>
            <a:endParaRPr lang="en-US" sz="1300" dirty="0"/>
          </a:p>
        </p:txBody>
      </p:sp>
      <p:sp>
        <p:nvSpPr>
          <p:cNvPr id="6" name="Text 4"/>
          <p:cNvSpPr/>
          <p:nvPr/>
        </p:nvSpPr>
        <p:spPr>
          <a:xfrm>
            <a:off x="4343400" y="1965960"/>
            <a:ext cx="3383280" cy="365760"/>
          </a:xfrm>
          <a:prstGeom prst="rect">
            <a:avLst/>
          </a:prstGeom>
          <a:noFill/>
          <a:ln/>
        </p:spPr>
        <p:txBody>
          <a:bodyPr wrap="square" lIns="0" tIns="0" rIns="0" bIns="0" rtlCol="0" anchor="ctr"/>
          <a:lstStyle/>
          <a:p>
            <a:pPr indent="0" marL="0">
              <a:buNone/>
            </a:pPr>
            <a:r>
              <a:rPr lang="en-US" sz="1300" b="1" dirty="0">
                <a:solidFill>
                  <a:srgbClr val="2B2621"/>
                </a:solidFill>
                <a:latin typeface="Calibri" pitchFamily="34" charset="0"/>
                <a:ea typeface="Calibri" pitchFamily="34" charset="-122"/>
                <a:cs typeface="Calibri" pitchFamily="34" charset="-120"/>
              </a:rPr>
              <a:t>Structuring</a:t>
            </a:r>
            <a:endParaRPr lang="en-US" sz="1300" dirty="0"/>
          </a:p>
        </p:txBody>
      </p:sp>
      <p:sp>
        <p:nvSpPr>
          <p:cNvPr id="7" name="Text 5"/>
          <p:cNvSpPr/>
          <p:nvPr/>
        </p:nvSpPr>
        <p:spPr>
          <a:xfrm>
            <a:off x="4343400" y="2423160"/>
            <a:ext cx="3383280" cy="320040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300" dirty="0">
                <a:solidFill>
                  <a:srgbClr val="2B2621"/>
                </a:solidFill>
                <a:latin typeface="Calibri" pitchFamily="34" charset="0"/>
                <a:ea typeface="Calibri" pitchFamily="34" charset="-122"/>
                <a:cs typeface="Calibri" pitchFamily="34" charset="-120"/>
              </a:rPr>
              <a:t>Split posted date into year, month, quarter</a:t>
            </a:r>
            <a:endParaRPr lang="en-US" sz="1300" dirty="0"/>
          </a:p>
          <a:p>
            <a:pPr marL="342900" indent="-342900">
              <a:lnSpc>
                <a:spcPts val="1800"/>
              </a:lnSpc>
              <a:spcAft>
                <a:spcPts val="1000"/>
              </a:spcAft>
              <a:buSzPct val="100000"/>
              <a:buChar char="–"/>
            </a:pPr>
            <a:r>
              <a:rPr lang="en-US" sz="1300" dirty="0">
                <a:solidFill>
                  <a:srgbClr val="2B2621"/>
                </a:solidFill>
                <a:latin typeface="Calibri" pitchFamily="34" charset="0"/>
                <a:ea typeface="Calibri" pitchFamily="34" charset="-122"/>
                <a:cs typeface="Calibri" pitchFamily="34" charset="-120"/>
              </a:rPr>
              <a:t>Built custom size and luxury categories</a:t>
            </a:r>
            <a:endParaRPr lang="en-US" sz="1300" dirty="0"/>
          </a:p>
          <a:p>
            <a:pPr marL="342900" indent="-342900">
              <a:lnSpc>
                <a:spcPts val="1800"/>
              </a:lnSpc>
              <a:spcAft>
                <a:spcPts val="1000"/>
              </a:spcAft>
              <a:buSzPct val="100000"/>
              <a:buChar char="–"/>
            </a:pPr>
            <a:r>
              <a:rPr lang="en-US" sz="1300" dirty="0">
                <a:solidFill>
                  <a:srgbClr val="2B2621"/>
                </a:solidFill>
                <a:latin typeface="Calibri" pitchFamily="34" charset="0"/>
                <a:ea typeface="Calibri" pitchFamily="34" charset="-122"/>
                <a:cs typeface="Calibri" pitchFamily="34" charset="-120"/>
              </a:rPr>
              <a:t>Removed unneeded columns</a:t>
            </a:r>
            <a:endParaRPr lang="en-US" sz="1300" dirty="0"/>
          </a:p>
        </p:txBody>
      </p:sp>
      <p:sp>
        <p:nvSpPr>
          <p:cNvPr id="8" name="Text 6"/>
          <p:cNvSpPr/>
          <p:nvPr/>
        </p:nvSpPr>
        <p:spPr>
          <a:xfrm>
            <a:off x="8046720" y="1965960"/>
            <a:ext cx="3383280" cy="365760"/>
          </a:xfrm>
          <a:prstGeom prst="rect">
            <a:avLst/>
          </a:prstGeom>
          <a:noFill/>
          <a:ln/>
        </p:spPr>
        <p:txBody>
          <a:bodyPr wrap="square" lIns="0" tIns="0" rIns="0" bIns="0" rtlCol="0" anchor="ctr"/>
          <a:lstStyle/>
          <a:p>
            <a:pPr indent="0" marL="0">
              <a:buNone/>
            </a:pPr>
            <a:r>
              <a:rPr lang="en-US" sz="1300" b="1" dirty="0">
                <a:solidFill>
                  <a:srgbClr val="2B2621"/>
                </a:solidFill>
                <a:latin typeface="Calibri" pitchFamily="34" charset="0"/>
                <a:ea typeface="Calibri" pitchFamily="34" charset="-122"/>
                <a:cs typeface="Calibri" pitchFamily="34" charset="-120"/>
              </a:rPr>
              <a:t>Advanced</a:t>
            </a:r>
            <a:endParaRPr lang="en-US" sz="1300" dirty="0"/>
          </a:p>
        </p:txBody>
      </p:sp>
      <p:sp>
        <p:nvSpPr>
          <p:cNvPr id="9" name="Text 7"/>
          <p:cNvSpPr/>
          <p:nvPr/>
        </p:nvSpPr>
        <p:spPr>
          <a:xfrm>
            <a:off x="8046720" y="2423160"/>
            <a:ext cx="3383280" cy="3200400"/>
          </a:xfrm>
          <a:prstGeom prst="rect">
            <a:avLst/>
          </a:prstGeom>
          <a:noFill/>
          <a:ln/>
        </p:spPr>
        <p:txBody>
          <a:bodyPr wrap="square" lIns="0" tIns="0" rIns="0" bIns="0" rtlCol="0" anchor="ctr"/>
          <a:lstStyle/>
          <a:p>
            <a:pPr marL="342900" indent="-342900">
              <a:lnSpc>
                <a:spcPts val="1800"/>
              </a:lnSpc>
              <a:spcAft>
                <a:spcPts val="1000"/>
              </a:spcAft>
              <a:buSzPct val="100000"/>
              <a:buChar char="–"/>
            </a:pPr>
            <a:r>
              <a:rPr lang="en-US" sz="1300" dirty="0">
                <a:solidFill>
                  <a:srgbClr val="2B2621"/>
                </a:solidFill>
                <a:latin typeface="Calibri" pitchFamily="34" charset="0"/>
                <a:ea typeface="Calibri" pitchFamily="34" charset="-122"/>
                <a:cs typeface="Calibri" pitchFamily="34" charset="-120"/>
              </a:rPr>
              <a:t>Built a full Date table</a:t>
            </a:r>
            <a:endParaRPr lang="en-US" sz="1300" dirty="0"/>
          </a:p>
          <a:p>
            <a:pPr marL="342900" indent="-342900">
              <a:lnSpc>
                <a:spcPts val="1800"/>
              </a:lnSpc>
              <a:spcAft>
                <a:spcPts val="1000"/>
              </a:spcAft>
              <a:buSzPct val="100000"/>
              <a:buChar char="–"/>
            </a:pPr>
            <a:r>
              <a:rPr lang="en-US" sz="1300" dirty="0">
                <a:solidFill>
                  <a:srgbClr val="2B2621"/>
                </a:solidFill>
                <a:latin typeface="Calibri" pitchFamily="34" charset="0"/>
                <a:ea typeface="Calibri" pitchFamily="34" charset="-122"/>
                <a:cs typeface="Calibri" pitchFamily="34" charset="-120"/>
              </a:rPr>
              <a:t>Created a reference query for Dubai</a:t>
            </a:r>
            <a:endParaRPr lang="en-US" sz="1300" dirty="0"/>
          </a:p>
          <a:p>
            <a:pPr marL="342900" indent="-342900">
              <a:lnSpc>
                <a:spcPts val="1800"/>
              </a:lnSpc>
              <a:spcAft>
                <a:spcPts val="1000"/>
              </a:spcAft>
              <a:buSzPct val="100000"/>
              <a:buChar char="–"/>
            </a:pPr>
            <a:r>
              <a:rPr lang="en-US" sz="1300" dirty="0">
                <a:solidFill>
                  <a:srgbClr val="2B2621"/>
                </a:solidFill>
                <a:latin typeface="Calibri" pitchFamily="34" charset="0"/>
                <a:ea typeface="Calibri" pitchFamily="34" charset="-122"/>
                <a:cs typeface="Calibri" pitchFamily="34" charset="-120"/>
              </a:rPr>
              <a:t>Grouped by location and type with multiple aggregations</a:t>
            </a:r>
            <a:endParaRPr lang="en-US" sz="1300" dirty="0"/>
          </a:p>
        </p:txBody>
      </p:sp>
      <p:sp>
        <p:nvSpPr>
          <p:cNvPr id="10" name="Text 8"/>
          <p:cNvSpPr/>
          <p:nvPr/>
        </p:nvSpPr>
        <p:spPr>
          <a:xfrm>
            <a:off x="640080" y="6446520"/>
            <a:ext cx="7315200" cy="274320"/>
          </a:xfrm>
          <a:prstGeom prst="rect">
            <a:avLst/>
          </a:prstGeom>
          <a:noFill/>
          <a:ln/>
        </p:spPr>
        <p:txBody>
          <a:bodyPr wrap="square" lIns="0" tIns="0" rIns="0" bIns="0" rtlCol="0" anchor="ctr"/>
          <a:lstStyle/>
          <a:p>
            <a:pPr indent="0" marL="0">
              <a:buNone/>
            </a:pPr>
            <a:r>
              <a:rPr lang="en-US" sz="1000" dirty="0">
                <a:solidFill>
                  <a:srgbClr val="6B6255"/>
                </a:solidFill>
                <a:latin typeface="Calibri" pitchFamily="34" charset="0"/>
                <a:ea typeface="Calibri" pitchFamily="34" charset="-122"/>
                <a:cs typeface="Calibri" pitchFamily="34" charset="-120"/>
              </a:rPr>
              <a:t>Power Query</a:t>
            </a:r>
            <a:endParaRPr lang="en-US" sz="1000" dirty="0"/>
          </a:p>
        </p:txBody>
      </p:sp>
      <p:sp>
        <p:nvSpPr>
          <p:cNvPr id="11" name="Text 9"/>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6B6255"/>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6B6255"/>
                </a:solidFill>
                <a:latin typeface="Calibri" pitchFamily="34" charset="0"/>
                <a:ea typeface="Calibri" pitchFamily="34" charset="-122"/>
                <a:cs typeface="Calibri" pitchFamily="34" charset="-120"/>
              </a:rPr>
              <a:t>DATA MODEL</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000" b="1" dirty="0">
                <a:solidFill>
                  <a:srgbClr val="2B2621"/>
                </a:solidFill>
                <a:latin typeface="Georgia" pitchFamily="34" charset="0"/>
                <a:ea typeface="Georgia" pitchFamily="34" charset="-122"/>
                <a:cs typeface="Georgia" pitchFamily="34" charset="-120"/>
              </a:rPr>
              <a:t>A clean star schema</a:t>
            </a:r>
            <a:endParaRPr lang="en-US" sz="3000" dirty="0"/>
          </a:p>
        </p:txBody>
      </p:sp>
      <p:sp>
        <p:nvSpPr>
          <p:cNvPr id="4" name="Shape 2"/>
          <p:cNvSpPr/>
          <p:nvPr/>
        </p:nvSpPr>
        <p:spPr>
          <a:xfrm flipV="1">
            <a:off x="1293876" y="2715768"/>
            <a:ext cx="4805172" cy="1399032"/>
          </a:xfrm>
          <a:prstGeom prst="line">
            <a:avLst/>
          </a:prstGeom>
          <a:noFill/>
          <a:ln w="12700">
            <a:solidFill>
              <a:srgbClr val="DCD4C2"/>
            </a:solidFill>
            <a:prstDash val="solid"/>
          </a:ln>
        </p:spPr>
      </p:sp>
      <p:sp>
        <p:nvSpPr>
          <p:cNvPr id="5" name="Shape 3"/>
          <p:cNvSpPr/>
          <p:nvPr/>
        </p:nvSpPr>
        <p:spPr>
          <a:xfrm flipV="1">
            <a:off x="3214116" y="2715768"/>
            <a:ext cx="2884932" cy="1399032"/>
          </a:xfrm>
          <a:prstGeom prst="line">
            <a:avLst/>
          </a:prstGeom>
          <a:noFill/>
          <a:ln w="12700">
            <a:solidFill>
              <a:srgbClr val="DCD4C2"/>
            </a:solidFill>
            <a:prstDash val="solid"/>
          </a:ln>
        </p:spPr>
      </p:sp>
      <p:sp>
        <p:nvSpPr>
          <p:cNvPr id="6" name="Shape 4"/>
          <p:cNvSpPr/>
          <p:nvPr/>
        </p:nvSpPr>
        <p:spPr>
          <a:xfrm flipV="1">
            <a:off x="5134356" y="2715768"/>
            <a:ext cx="964692" cy="1399032"/>
          </a:xfrm>
          <a:prstGeom prst="line">
            <a:avLst/>
          </a:prstGeom>
          <a:noFill/>
          <a:ln w="12700">
            <a:solidFill>
              <a:srgbClr val="DCD4C2"/>
            </a:solidFill>
            <a:prstDash val="solid"/>
          </a:ln>
        </p:spPr>
      </p:sp>
      <p:sp>
        <p:nvSpPr>
          <p:cNvPr id="7" name="Shape 5"/>
          <p:cNvSpPr/>
          <p:nvPr/>
        </p:nvSpPr>
        <p:spPr>
          <a:xfrm>
            <a:off x="6099048" y="2715768"/>
            <a:ext cx="955548" cy="1399032"/>
          </a:xfrm>
          <a:prstGeom prst="line">
            <a:avLst/>
          </a:prstGeom>
          <a:noFill/>
          <a:ln w="12700">
            <a:solidFill>
              <a:srgbClr val="DCD4C2"/>
            </a:solidFill>
            <a:prstDash val="solid"/>
          </a:ln>
        </p:spPr>
      </p:sp>
      <p:sp>
        <p:nvSpPr>
          <p:cNvPr id="8" name="Shape 6"/>
          <p:cNvSpPr/>
          <p:nvPr/>
        </p:nvSpPr>
        <p:spPr>
          <a:xfrm>
            <a:off x="6099048" y="2715768"/>
            <a:ext cx="2875788" cy="1399032"/>
          </a:xfrm>
          <a:prstGeom prst="line">
            <a:avLst/>
          </a:prstGeom>
          <a:noFill/>
          <a:ln w="12700">
            <a:solidFill>
              <a:srgbClr val="DCD4C2"/>
            </a:solidFill>
            <a:prstDash val="solid"/>
          </a:ln>
        </p:spPr>
      </p:sp>
      <p:sp>
        <p:nvSpPr>
          <p:cNvPr id="9" name="Shape 7"/>
          <p:cNvSpPr/>
          <p:nvPr/>
        </p:nvSpPr>
        <p:spPr>
          <a:xfrm>
            <a:off x="6099048" y="2715768"/>
            <a:ext cx="4796028" cy="1399032"/>
          </a:xfrm>
          <a:prstGeom prst="line">
            <a:avLst/>
          </a:prstGeom>
          <a:noFill/>
          <a:ln w="12700">
            <a:solidFill>
              <a:srgbClr val="DCD4C2"/>
            </a:solidFill>
            <a:prstDash val="solid"/>
          </a:ln>
        </p:spPr>
      </p:sp>
      <p:sp>
        <p:nvSpPr>
          <p:cNvPr id="10" name="Text 8"/>
          <p:cNvSpPr/>
          <p:nvPr/>
        </p:nvSpPr>
        <p:spPr>
          <a:xfrm>
            <a:off x="4956048" y="2148840"/>
            <a:ext cx="2286000" cy="566928"/>
          </a:xfrm>
          <a:prstGeom prst="rect">
            <a:avLst/>
          </a:prstGeom>
          <a:solidFill>
            <a:srgbClr val="2B2621"/>
          </a:solidFill>
          <a:ln/>
        </p:spPr>
        <p:txBody>
          <a:bodyPr wrap="square" lIns="0" tIns="0" rIns="0" bIns="0" rtlCol="0" anchor="ctr"/>
          <a:lstStyle/>
          <a:p>
            <a:pPr algn="ctr" indent="0" marL="0">
              <a:buNone/>
            </a:pPr>
            <a:r>
              <a:rPr lang="en-US" sz="1800" b="1" dirty="0">
                <a:solidFill>
                  <a:srgbClr val="FBF6EC"/>
                </a:solidFill>
                <a:latin typeface="Georgia" pitchFamily="34" charset="0"/>
                <a:ea typeface="Georgia" pitchFamily="34" charset="-122"/>
                <a:cs typeface="Georgia" pitchFamily="34" charset="-120"/>
              </a:rPr>
              <a:t>FactProperty</a:t>
            </a:r>
            <a:endParaRPr lang="en-US" sz="1800" dirty="0"/>
          </a:p>
        </p:txBody>
      </p:sp>
      <p:sp>
        <p:nvSpPr>
          <p:cNvPr id="11" name="Text 9"/>
          <p:cNvSpPr/>
          <p:nvPr/>
        </p:nvSpPr>
        <p:spPr>
          <a:xfrm>
            <a:off x="448056" y="4114800"/>
            <a:ext cx="1691640" cy="502920"/>
          </a:xfrm>
          <a:prstGeom prst="rect">
            <a:avLst/>
          </a:prstGeom>
          <a:noFill/>
          <a:ln w="12700">
            <a:solidFill>
              <a:srgbClr val="DCD4C2"/>
            </a:solidFill>
          </a:ln>
        </p:spPr>
        <p:txBody>
          <a:bodyPr wrap="square" lIns="0" tIns="0" rIns="0" bIns="0" rtlCol="0" anchor="ctr"/>
          <a:lstStyle/>
          <a:p>
            <a:pPr algn="ctr" indent="0" marL="0">
              <a:buNone/>
            </a:pPr>
            <a:r>
              <a:rPr lang="en-US" sz="1150" dirty="0">
                <a:solidFill>
                  <a:srgbClr val="2B2621"/>
                </a:solidFill>
                <a:latin typeface="Calibri" pitchFamily="34" charset="0"/>
                <a:ea typeface="Calibri" pitchFamily="34" charset="-122"/>
                <a:cs typeface="Calibri" pitchFamily="34" charset="-120"/>
              </a:rPr>
              <a:t>DateTable</a:t>
            </a:r>
            <a:endParaRPr lang="en-US" sz="1150" dirty="0"/>
          </a:p>
        </p:txBody>
      </p:sp>
      <p:sp>
        <p:nvSpPr>
          <p:cNvPr id="12" name="Text 10"/>
          <p:cNvSpPr/>
          <p:nvPr/>
        </p:nvSpPr>
        <p:spPr>
          <a:xfrm>
            <a:off x="2368296" y="4114800"/>
            <a:ext cx="1691640" cy="502920"/>
          </a:xfrm>
          <a:prstGeom prst="rect">
            <a:avLst/>
          </a:prstGeom>
          <a:noFill/>
          <a:ln w="12700">
            <a:solidFill>
              <a:srgbClr val="DCD4C2"/>
            </a:solidFill>
          </a:ln>
        </p:spPr>
        <p:txBody>
          <a:bodyPr wrap="square" lIns="0" tIns="0" rIns="0" bIns="0" rtlCol="0" anchor="ctr"/>
          <a:lstStyle/>
          <a:p>
            <a:pPr algn="ctr" indent="0" marL="0">
              <a:buNone/>
            </a:pPr>
            <a:r>
              <a:rPr lang="en-US" sz="1150" dirty="0">
                <a:solidFill>
                  <a:srgbClr val="2B2621"/>
                </a:solidFill>
                <a:latin typeface="Calibri" pitchFamily="34" charset="0"/>
                <a:ea typeface="Calibri" pitchFamily="34" charset="-122"/>
                <a:cs typeface="Calibri" pitchFamily="34" charset="-120"/>
              </a:rPr>
              <a:t>DimLocation</a:t>
            </a:r>
            <a:endParaRPr lang="en-US" sz="1150" dirty="0"/>
          </a:p>
        </p:txBody>
      </p:sp>
      <p:sp>
        <p:nvSpPr>
          <p:cNvPr id="13" name="Text 11"/>
          <p:cNvSpPr/>
          <p:nvPr/>
        </p:nvSpPr>
        <p:spPr>
          <a:xfrm>
            <a:off x="4288536" y="4114800"/>
            <a:ext cx="1691640" cy="502920"/>
          </a:xfrm>
          <a:prstGeom prst="rect">
            <a:avLst/>
          </a:prstGeom>
          <a:noFill/>
          <a:ln w="12700">
            <a:solidFill>
              <a:srgbClr val="DCD4C2"/>
            </a:solidFill>
          </a:ln>
        </p:spPr>
        <p:txBody>
          <a:bodyPr wrap="square" lIns="0" tIns="0" rIns="0" bIns="0" rtlCol="0" anchor="ctr"/>
          <a:lstStyle/>
          <a:p>
            <a:pPr algn="ctr" indent="0" marL="0">
              <a:buNone/>
            </a:pPr>
            <a:r>
              <a:rPr lang="en-US" sz="1150" dirty="0">
                <a:solidFill>
                  <a:srgbClr val="2B2621"/>
                </a:solidFill>
                <a:latin typeface="Calibri" pitchFamily="34" charset="0"/>
                <a:ea typeface="Calibri" pitchFamily="34" charset="-122"/>
                <a:cs typeface="Calibri" pitchFamily="34" charset="-120"/>
              </a:rPr>
              <a:t>DimPropertyType</a:t>
            </a:r>
            <a:endParaRPr lang="en-US" sz="1150" dirty="0"/>
          </a:p>
        </p:txBody>
      </p:sp>
      <p:sp>
        <p:nvSpPr>
          <p:cNvPr id="14" name="Text 12"/>
          <p:cNvSpPr/>
          <p:nvPr/>
        </p:nvSpPr>
        <p:spPr>
          <a:xfrm>
            <a:off x="6208776" y="4114800"/>
            <a:ext cx="1691640" cy="502920"/>
          </a:xfrm>
          <a:prstGeom prst="rect">
            <a:avLst/>
          </a:prstGeom>
          <a:noFill/>
          <a:ln w="12700">
            <a:solidFill>
              <a:srgbClr val="DCD4C2"/>
            </a:solidFill>
          </a:ln>
        </p:spPr>
        <p:txBody>
          <a:bodyPr wrap="square" lIns="0" tIns="0" rIns="0" bIns="0" rtlCol="0" anchor="ctr"/>
          <a:lstStyle/>
          <a:p>
            <a:pPr algn="ctr" indent="0" marL="0">
              <a:buNone/>
            </a:pPr>
            <a:r>
              <a:rPr lang="en-US" sz="1150" dirty="0">
                <a:solidFill>
                  <a:srgbClr val="2B2621"/>
                </a:solidFill>
                <a:latin typeface="Calibri" pitchFamily="34" charset="0"/>
                <a:ea typeface="Calibri" pitchFamily="34" charset="-122"/>
                <a:cs typeface="Calibri" pitchFamily="34" charset="-120"/>
              </a:rPr>
              <a:t>DimFurnishing</a:t>
            </a:r>
            <a:endParaRPr lang="en-US" sz="1150" dirty="0"/>
          </a:p>
        </p:txBody>
      </p:sp>
      <p:sp>
        <p:nvSpPr>
          <p:cNvPr id="15" name="Text 13"/>
          <p:cNvSpPr/>
          <p:nvPr/>
        </p:nvSpPr>
        <p:spPr>
          <a:xfrm>
            <a:off x="8129016" y="4114800"/>
            <a:ext cx="1691640" cy="502920"/>
          </a:xfrm>
          <a:prstGeom prst="rect">
            <a:avLst/>
          </a:prstGeom>
          <a:noFill/>
          <a:ln w="12700">
            <a:solidFill>
              <a:srgbClr val="DCD4C2"/>
            </a:solidFill>
          </a:ln>
        </p:spPr>
        <p:txBody>
          <a:bodyPr wrap="square" lIns="0" tIns="0" rIns="0" bIns="0" rtlCol="0" anchor="ctr"/>
          <a:lstStyle/>
          <a:p>
            <a:pPr algn="ctr" indent="0" marL="0">
              <a:buNone/>
            </a:pPr>
            <a:r>
              <a:rPr lang="en-US" sz="1150" dirty="0">
                <a:solidFill>
                  <a:srgbClr val="2B2621"/>
                </a:solidFill>
                <a:latin typeface="Calibri" pitchFamily="34" charset="0"/>
                <a:ea typeface="Calibri" pitchFamily="34" charset="-122"/>
                <a:cs typeface="Calibri" pitchFamily="34" charset="-120"/>
              </a:rPr>
              <a:t>DimFrequency</a:t>
            </a:r>
            <a:endParaRPr lang="en-US" sz="1150" dirty="0"/>
          </a:p>
        </p:txBody>
      </p:sp>
      <p:sp>
        <p:nvSpPr>
          <p:cNvPr id="16" name="Text 14"/>
          <p:cNvSpPr/>
          <p:nvPr/>
        </p:nvSpPr>
        <p:spPr>
          <a:xfrm>
            <a:off x="10049256" y="4114800"/>
            <a:ext cx="1691640" cy="502920"/>
          </a:xfrm>
          <a:prstGeom prst="rect">
            <a:avLst/>
          </a:prstGeom>
          <a:noFill/>
          <a:ln w="12700">
            <a:solidFill>
              <a:srgbClr val="DCD4C2"/>
            </a:solidFill>
          </a:ln>
        </p:spPr>
        <p:txBody>
          <a:bodyPr wrap="square" lIns="0" tIns="0" rIns="0" bIns="0" rtlCol="0" anchor="ctr"/>
          <a:lstStyle/>
          <a:p>
            <a:pPr algn="ctr" indent="0" marL="0">
              <a:buNone/>
            </a:pPr>
            <a:r>
              <a:rPr lang="en-US" sz="1150" dirty="0">
                <a:solidFill>
                  <a:srgbClr val="2B2621"/>
                </a:solidFill>
                <a:latin typeface="Calibri" pitchFamily="34" charset="0"/>
                <a:ea typeface="Calibri" pitchFamily="34" charset="-122"/>
                <a:cs typeface="Calibri" pitchFamily="34" charset="-120"/>
              </a:rPr>
              <a:t>DimPurpose</a:t>
            </a:r>
            <a:endParaRPr lang="en-US" sz="1150" dirty="0"/>
          </a:p>
        </p:txBody>
      </p:sp>
      <p:sp>
        <p:nvSpPr>
          <p:cNvPr id="17" name="Text 15"/>
          <p:cNvSpPr/>
          <p:nvPr/>
        </p:nvSpPr>
        <p:spPr>
          <a:xfrm>
            <a:off x="640080" y="5852160"/>
            <a:ext cx="10881360" cy="548640"/>
          </a:xfrm>
          <a:prstGeom prst="rect">
            <a:avLst/>
          </a:prstGeom>
          <a:noFill/>
          <a:ln/>
        </p:spPr>
        <p:txBody>
          <a:bodyPr wrap="square" lIns="0" tIns="0" rIns="0" bIns="0" rtlCol="0" anchor="ctr"/>
          <a:lstStyle/>
          <a:p>
            <a:pPr indent="0" marL="0">
              <a:buNone/>
            </a:pPr>
            <a:r>
              <a:rPr lang="en-US" sz="1400" i="1" dirty="0">
                <a:solidFill>
                  <a:srgbClr val="6B6255"/>
                </a:solidFill>
                <a:latin typeface="Georgia" pitchFamily="34" charset="0"/>
                <a:ea typeface="Georgia" pitchFamily="34" charset="-122"/>
                <a:cs typeface="Georgia" pitchFamily="34" charset="-120"/>
              </a:rPr>
              <a:t>One fact table, six dimensions, one-to-many relationships with single-direction filtering — no relationships between dimensions.</a:t>
            </a:r>
            <a:endParaRPr lang="en-US" sz="1400" dirty="0"/>
          </a:p>
        </p:txBody>
      </p:sp>
      <p:sp>
        <p:nvSpPr>
          <p:cNvPr id="18" name="Text 16"/>
          <p:cNvSpPr/>
          <p:nvPr/>
        </p:nvSpPr>
        <p:spPr>
          <a:xfrm>
            <a:off x="640080" y="6446520"/>
            <a:ext cx="7315200" cy="274320"/>
          </a:xfrm>
          <a:prstGeom prst="rect">
            <a:avLst/>
          </a:prstGeom>
          <a:noFill/>
          <a:ln/>
        </p:spPr>
        <p:txBody>
          <a:bodyPr wrap="square" lIns="0" tIns="0" rIns="0" bIns="0" rtlCol="0" anchor="ctr"/>
          <a:lstStyle/>
          <a:p>
            <a:pPr indent="0" marL="0">
              <a:buNone/>
            </a:pPr>
            <a:r>
              <a:rPr lang="en-US" sz="1000" dirty="0">
                <a:solidFill>
                  <a:srgbClr val="6B6255"/>
                </a:solidFill>
                <a:latin typeface="Calibri" pitchFamily="34" charset="0"/>
                <a:ea typeface="Calibri" pitchFamily="34" charset="-122"/>
                <a:cs typeface="Calibri" pitchFamily="34" charset="-120"/>
              </a:rPr>
              <a:t>Data Model</a:t>
            </a:r>
            <a:endParaRPr lang="en-US" sz="1000" dirty="0"/>
          </a:p>
        </p:txBody>
      </p:sp>
      <p:sp>
        <p:nvSpPr>
          <p:cNvPr id="19" name="Text 17"/>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6B6255"/>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6B6255"/>
                </a:solidFill>
                <a:latin typeface="Calibri" pitchFamily="34" charset="0"/>
                <a:ea typeface="Calibri" pitchFamily="34" charset="-122"/>
                <a:cs typeface="Calibri" pitchFamily="34" charset="-120"/>
              </a:rPr>
              <a:t>DAX MEASURES</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000" b="1" dirty="0">
                <a:solidFill>
                  <a:srgbClr val="2B2621"/>
                </a:solidFill>
                <a:latin typeface="Georgia" pitchFamily="34" charset="0"/>
                <a:ea typeface="Georgia" pitchFamily="34" charset="-122"/>
                <a:cs typeface="Georgia" pitchFamily="34" charset="-120"/>
              </a:rPr>
              <a:t>15 measures across five categories</a:t>
            </a:r>
            <a:endParaRPr lang="en-US" sz="3000" dirty="0"/>
          </a:p>
        </p:txBody>
      </p:sp>
      <p:sp>
        <p:nvSpPr>
          <p:cNvPr id="4" name="Text 2"/>
          <p:cNvSpPr/>
          <p:nvPr/>
        </p:nvSpPr>
        <p:spPr>
          <a:xfrm>
            <a:off x="640080" y="1965960"/>
            <a:ext cx="2377440" cy="685800"/>
          </a:xfrm>
          <a:prstGeom prst="rect">
            <a:avLst/>
          </a:prstGeom>
          <a:noFill/>
          <a:ln/>
        </p:spPr>
        <p:txBody>
          <a:bodyPr wrap="square" lIns="0" tIns="0" rIns="0" bIns="0" rtlCol="0" anchor="t"/>
          <a:lstStyle/>
          <a:p>
            <a:pPr indent="0" marL="0">
              <a:buNone/>
            </a:pPr>
            <a:r>
              <a:rPr lang="en-US" sz="1300" b="1" dirty="0">
                <a:solidFill>
                  <a:srgbClr val="2B2621"/>
                </a:solidFill>
                <a:latin typeface="Calibri" pitchFamily="34" charset="0"/>
                <a:ea typeface="Calibri" pitchFamily="34" charset="-122"/>
                <a:cs typeface="Calibri" pitchFamily="34" charset="-120"/>
              </a:rPr>
              <a:t>Aggregation</a:t>
            </a:r>
            <a:endParaRPr lang="en-US" sz="1300" dirty="0"/>
          </a:p>
        </p:txBody>
      </p:sp>
      <p:sp>
        <p:nvSpPr>
          <p:cNvPr id="5" name="Text 3"/>
          <p:cNvSpPr/>
          <p:nvPr/>
        </p:nvSpPr>
        <p:spPr>
          <a:xfrm>
            <a:off x="3200400" y="1965960"/>
            <a:ext cx="8321040" cy="685800"/>
          </a:xfrm>
          <a:prstGeom prst="rect">
            <a:avLst/>
          </a:prstGeom>
          <a:noFill/>
          <a:ln/>
        </p:spPr>
        <p:txBody>
          <a:bodyPr wrap="square" lIns="0" tIns="0" rIns="0" bIns="0" rtlCol="0" anchor="t"/>
          <a:lstStyle/>
          <a:p>
            <a:pPr indent="0" marL="0">
              <a:buNone/>
            </a:pPr>
            <a:r>
              <a:rPr lang="en-US" sz="1300" dirty="0">
                <a:solidFill>
                  <a:srgbClr val="6B6255"/>
                </a:solidFill>
                <a:latin typeface="Calibri" pitchFamily="34" charset="0"/>
                <a:ea typeface="Calibri" pitchFamily="34" charset="-122"/>
                <a:cs typeface="Calibri" pitchFamily="34" charset="-120"/>
              </a:rPr>
              <a:t>Total Listings, Average Rent, Average Area Sqft</a:t>
            </a:r>
            <a:endParaRPr lang="en-US" sz="1300" dirty="0"/>
          </a:p>
        </p:txBody>
      </p:sp>
      <p:sp>
        <p:nvSpPr>
          <p:cNvPr id="6" name="Shape 4"/>
          <p:cNvSpPr/>
          <p:nvPr/>
        </p:nvSpPr>
        <p:spPr>
          <a:xfrm>
            <a:off x="640080" y="2587752"/>
            <a:ext cx="10881360" cy="0"/>
          </a:xfrm>
          <a:prstGeom prst="line">
            <a:avLst/>
          </a:prstGeom>
          <a:noFill/>
          <a:ln w="9525">
            <a:solidFill>
              <a:srgbClr val="DCD4C2"/>
            </a:solidFill>
            <a:prstDash val="solid"/>
          </a:ln>
        </p:spPr>
      </p:sp>
      <p:sp>
        <p:nvSpPr>
          <p:cNvPr id="7" name="Text 5"/>
          <p:cNvSpPr/>
          <p:nvPr/>
        </p:nvSpPr>
        <p:spPr>
          <a:xfrm>
            <a:off x="640080" y="2743200"/>
            <a:ext cx="2377440" cy="685800"/>
          </a:xfrm>
          <a:prstGeom prst="rect">
            <a:avLst/>
          </a:prstGeom>
          <a:noFill/>
          <a:ln/>
        </p:spPr>
        <p:txBody>
          <a:bodyPr wrap="square" lIns="0" tIns="0" rIns="0" bIns="0" rtlCol="0" anchor="t"/>
          <a:lstStyle/>
          <a:p>
            <a:pPr indent="0" marL="0">
              <a:buNone/>
            </a:pPr>
            <a:r>
              <a:rPr lang="en-US" sz="1300" b="1" dirty="0">
                <a:solidFill>
                  <a:srgbClr val="2B2621"/>
                </a:solidFill>
                <a:latin typeface="Calibri" pitchFamily="34" charset="0"/>
                <a:ea typeface="Calibri" pitchFamily="34" charset="-122"/>
                <a:cs typeface="Calibri" pitchFamily="34" charset="-120"/>
              </a:rPr>
              <a:t>Time Intelligence</a:t>
            </a:r>
            <a:endParaRPr lang="en-US" sz="1300" dirty="0"/>
          </a:p>
        </p:txBody>
      </p:sp>
      <p:sp>
        <p:nvSpPr>
          <p:cNvPr id="8" name="Text 6"/>
          <p:cNvSpPr/>
          <p:nvPr/>
        </p:nvSpPr>
        <p:spPr>
          <a:xfrm>
            <a:off x="3200400" y="2743200"/>
            <a:ext cx="8321040" cy="685800"/>
          </a:xfrm>
          <a:prstGeom prst="rect">
            <a:avLst/>
          </a:prstGeom>
          <a:noFill/>
          <a:ln/>
        </p:spPr>
        <p:txBody>
          <a:bodyPr wrap="square" lIns="0" tIns="0" rIns="0" bIns="0" rtlCol="0" anchor="t"/>
          <a:lstStyle/>
          <a:p>
            <a:pPr indent="0" marL="0">
              <a:buNone/>
            </a:pPr>
            <a:r>
              <a:rPr lang="en-US" sz="1300" dirty="0">
                <a:solidFill>
                  <a:srgbClr val="6B6255"/>
                </a:solidFill>
                <a:latin typeface="Calibri" pitchFamily="34" charset="0"/>
                <a:ea typeface="Calibri" pitchFamily="34" charset="-122"/>
                <a:cs typeface="Calibri" pitchFamily="34" charset="-120"/>
              </a:rPr>
              <a:t>Listings YTD, Average Rent MTD, Listings Previous Month, Listings Growth %</a:t>
            </a:r>
            <a:endParaRPr lang="en-US" sz="1300" dirty="0"/>
          </a:p>
        </p:txBody>
      </p:sp>
      <p:sp>
        <p:nvSpPr>
          <p:cNvPr id="9" name="Shape 7"/>
          <p:cNvSpPr/>
          <p:nvPr/>
        </p:nvSpPr>
        <p:spPr>
          <a:xfrm>
            <a:off x="640080" y="3364992"/>
            <a:ext cx="10881360" cy="0"/>
          </a:xfrm>
          <a:prstGeom prst="line">
            <a:avLst/>
          </a:prstGeom>
          <a:noFill/>
          <a:ln w="9525">
            <a:solidFill>
              <a:srgbClr val="DCD4C2"/>
            </a:solidFill>
            <a:prstDash val="solid"/>
          </a:ln>
        </p:spPr>
      </p:sp>
      <p:sp>
        <p:nvSpPr>
          <p:cNvPr id="10" name="Text 8"/>
          <p:cNvSpPr/>
          <p:nvPr/>
        </p:nvSpPr>
        <p:spPr>
          <a:xfrm>
            <a:off x="640080" y="3520440"/>
            <a:ext cx="2377440" cy="685800"/>
          </a:xfrm>
          <a:prstGeom prst="rect">
            <a:avLst/>
          </a:prstGeom>
          <a:noFill/>
          <a:ln/>
        </p:spPr>
        <p:txBody>
          <a:bodyPr wrap="square" lIns="0" tIns="0" rIns="0" bIns="0" rtlCol="0" anchor="t"/>
          <a:lstStyle/>
          <a:p>
            <a:pPr indent="0" marL="0">
              <a:buNone/>
            </a:pPr>
            <a:r>
              <a:rPr lang="en-US" sz="1300" b="1" dirty="0">
                <a:solidFill>
                  <a:srgbClr val="2B2621"/>
                </a:solidFill>
                <a:latin typeface="Calibri" pitchFamily="34" charset="0"/>
                <a:ea typeface="Calibri" pitchFamily="34" charset="-122"/>
                <a:cs typeface="Calibri" pitchFamily="34" charset="-120"/>
              </a:rPr>
              <a:t>Ratio</a:t>
            </a:r>
            <a:endParaRPr lang="en-US" sz="1300" dirty="0"/>
          </a:p>
        </p:txBody>
      </p:sp>
      <p:sp>
        <p:nvSpPr>
          <p:cNvPr id="11" name="Text 9"/>
          <p:cNvSpPr/>
          <p:nvPr/>
        </p:nvSpPr>
        <p:spPr>
          <a:xfrm>
            <a:off x="3200400" y="3520440"/>
            <a:ext cx="8321040" cy="685800"/>
          </a:xfrm>
          <a:prstGeom prst="rect">
            <a:avLst/>
          </a:prstGeom>
          <a:noFill/>
          <a:ln/>
        </p:spPr>
        <p:txBody>
          <a:bodyPr wrap="square" lIns="0" tIns="0" rIns="0" bIns="0" rtlCol="0" anchor="t"/>
          <a:lstStyle/>
          <a:p>
            <a:pPr indent="0" marL="0">
              <a:buNone/>
            </a:pPr>
            <a:r>
              <a:rPr lang="en-US" sz="1300" dirty="0">
                <a:solidFill>
                  <a:srgbClr val="6B6255"/>
                </a:solidFill>
                <a:latin typeface="Calibri" pitchFamily="34" charset="0"/>
                <a:ea typeface="Calibri" pitchFamily="34" charset="-122"/>
                <a:cs typeface="Calibri" pitchFamily="34" charset="-120"/>
              </a:rPr>
              <a:t>Avg Rent per Sqft, % Furnished Listings, % Listings for Rent</a:t>
            </a:r>
            <a:endParaRPr lang="en-US" sz="1300" dirty="0"/>
          </a:p>
        </p:txBody>
      </p:sp>
      <p:sp>
        <p:nvSpPr>
          <p:cNvPr id="12" name="Shape 10"/>
          <p:cNvSpPr/>
          <p:nvPr/>
        </p:nvSpPr>
        <p:spPr>
          <a:xfrm>
            <a:off x="640080" y="4142232"/>
            <a:ext cx="10881360" cy="0"/>
          </a:xfrm>
          <a:prstGeom prst="line">
            <a:avLst/>
          </a:prstGeom>
          <a:noFill/>
          <a:ln w="9525">
            <a:solidFill>
              <a:srgbClr val="DCD4C2"/>
            </a:solidFill>
            <a:prstDash val="solid"/>
          </a:ln>
        </p:spPr>
      </p:sp>
      <p:sp>
        <p:nvSpPr>
          <p:cNvPr id="13" name="Text 11"/>
          <p:cNvSpPr/>
          <p:nvPr/>
        </p:nvSpPr>
        <p:spPr>
          <a:xfrm>
            <a:off x="640080" y="4297680"/>
            <a:ext cx="2377440" cy="685800"/>
          </a:xfrm>
          <a:prstGeom prst="rect">
            <a:avLst/>
          </a:prstGeom>
          <a:noFill/>
          <a:ln/>
        </p:spPr>
        <p:txBody>
          <a:bodyPr wrap="square" lIns="0" tIns="0" rIns="0" bIns="0" rtlCol="0" anchor="t"/>
          <a:lstStyle/>
          <a:p>
            <a:pPr indent="0" marL="0">
              <a:buNone/>
            </a:pPr>
            <a:r>
              <a:rPr lang="en-US" sz="1300" b="1" dirty="0">
                <a:solidFill>
                  <a:srgbClr val="2B2621"/>
                </a:solidFill>
                <a:latin typeface="Calibri" pitchFamily="34" charset="0"/>
                <a:ea typeface="Calibri" pitchFamily="34" charset="-122"/>
                <a:cs typeface="Calibri" pitchFamily="34" charset="-120"/>
              </a:rPr>
              <a:t>Ranking</a:t>
            </a:r>
            <a:endParaRPr lang="en-US" sz="1300" dirty="0"/>
          </a:p>
        </p:txBody>
      </p:sp>
      <p:sp>
        <p:nvSpPr>
          <p:cNvPr id="14" name="Text 12"/>
          <p:cNvSpPr/>
          <p:nvPr/>
        </p:nvSpPr>
        <p:spPr>
          <a:xfrm>
            <a:off x="3200400" y="4297680"/>
            <a:ext cx="8321040" cy="685800"/>
          </a:xfrm>
          <a:prstGeom prst="rect">
            <a:avLst/>
          </a:prstGeom>
          <a:noFill/>
          <a:ln/>
        </p:spPr>
        <p:txBody>
          <a:bodyPr wrap="square" lIns="0" tIns="0" rIns="0" bIns="0" rtlCol="0" anchor="t"/>
          <a:lstStyle/>
          <a:p>
            <a:pPr indent="0" marL="0">
              <a:buNone/>
            </a:pPr>
            <a:r>
              <a:rPr lang="en-US" sz="1300" dirty="0">
                <a:solidFill>
                  <a:srgbClr val="6B6255"/>
                </a:solidFill>
                <a:latin typeface="Calibri" pitchFamily="34" charset="0"/>
                <a:ea typeface="Calibri" pitchFamily="34" charset="-122"/>
                <a:cs typeface="Calibri" pitchFamily="34" charset="-120"/>
              </a:rPr>
              <a:t>Rank by Location Avg Rent, Rank by Property Type Popularity, Top Location Flag</a:t>
            </a:r>
            <a:endParaRPr lang="en-US" sz="1300" dirty="0"/>
          </a:p>
        </p:txBody>
      </p:sp>
      <p:sp>
        <p:nvSpPr>
          <p:cNvPr id="15" name="Shape 13"/>
          <p:cNvSpPr/>
          <p:nvPr/>
        </p:nvSpPr>
        <p:spPr>
          <a:xfrm>
            <a:off x="640080" y="4919472"/>
            <a:ext cx="10881360" cy="0"/>
          </a:xfrm>
          <a:prstGeom prst="line">
            <a:avLst/>
          </a:prstGeom>
          <a:noFill/>
          <a:ln w="9525">
            <a:solidFill>
              <a:srgbClr val="DCD4C2"/>
            </a:solidFill>
            <a:prstDash val="solid"/>
          </a:ln>
        </p:spPr>
      </p:sp>
      <p:sp>
        <p:nvSpPr>
          <p:cNvPr id="16" name="Text 14"/>
          <p:cNvSpPr/>
          <p:nvPr/>
        </p:nvSpPr>
        <p:spPr>
          <a:xfrm>
            <a:off x="640080" y="5074920"/>
            <a:ext cx="2377440" cy="685800"/>
          </a:xfrm>
          <a:prstGeom prst="rect">
            <a:avLst/>
          </a:prstGeom>
          <a:noFill/>
          <a:ln/>
        </p:spPr>
        <p:txBody>
          <a:bodyPr wrap="square" lIns="0" tIns="0" rIns="0" bIns="0" rtlCol="0" anchor="t"/>
          <a:lstStyle/>
          <a:p>
            <a:pPr indent="0" marL="0">
              <a:buNone/>
            </a:pPr>
            <a:r>
              <a:rPr lang="en-US" sz="1300" b="1" dirty="0">
                <a:solidFill>
                  <a:srgbClr val="2B2621"/>
                </a:solidFill>
                <a:latin typeface="Calibri" pitchFamily="34" charset="0"/>
                <a:ea typeface="Calibri" pitchFamily="34" charset="-122"/>
                <a:cs typeface="Calibri" pitchFamily="34" charset="-120"/>
              </a:rPr>
              <a:t>Conditional KPI</a:t>
            </a:r>
            <a:endParaRPr lang="en-US" sz="1300" dirty="0"/>
          </a:p>
        </p:txBody>
      </p:sp>
      <p:sp>
        <p:nvSpPr>
          <p:cNvPr id="17" name="Text 15"/>
          <p:cNvSpPr/>
          <p:nvPr/>
        </p:nvSpPr>
        <p:spPr>
          <a:xfrm>
            <a:off x="3200400" y="5074920"/>
            <a:ext cx="8321040" cy="685800"/>
          </a:xfrm>
          <a:prstGeom prst="rect">
            <a:avLst/>
          </a:prstGeom>
          <a:noFill/>
          <a:ln/>
        </p:spPr>
        <p:txBody>
          <a:bodyPr wrap="square" lIns="0" tIns="0" rIns="0" bIns="0" rtlCol="0" anchor="t"/>
          <a:lstStyle/>
          <a:p>
            <a:pPr indent="0" marL="0">
              <a:buNone/>
            </a:pPr>
            <a:r>
              <a:rPr lang="en-US" sz="1300" dirty="0">
                <a:solidFill>
                  <a:srgbClr val="6B6255"/>
                </a:solidFill>
                <a:latin typeface="Calibri" pitchFamily="34" charset="0"/>
                <a:ea typeface="Calibri" pitchFamily="34" charset="-122"/>
                <a:cs typeface="Calibri" pitchFamily="34" charset="-120"/>
              </a:rPr>
              <a:t>Rent Tier, Listing Age Status</a:t>
            </a:r>
            <a:endParaRPr lang="en-US" sz="1300" dirty="0"/>
          </a:p>
        </p:txBody>
      </p:sp>
      <p:sp>
        <p:nvSpPr>
          <p:cNvPr id="18" name="Shape 16"/>
          <p:cNvSpPr/>
          <p:nvPr/>
        </p:nvSpPr>
        <p:spPr>
          <a:xfrm>
            <a:off x="640080" y="5696712"/>
            <a:ext cx="10881360" cy="0"/>
          </a:xfrm>
          <a:prstGeom prst="line">
            <a:avLst/>
          </a:prstGeom>
          <a:noFill/>
          <a:ln w="9525">
            <a:solidFill>
              <a:srgbClr val="DCD4C2"/>
            </a:solidFill>
            <a:prstDash val="solid"/>
          </a:ln>
        </p:spPr>
      </p:sp>
      <p:sp>
        <p:nvSpPr>
          <p:cNvPr id="19" name="Text 17"/>
          <p:cNvSpPr/>
          <p:nvPr/>
        </p:nvSpPr>
        <p:spPr>
          <a:xfrm>
            <a:off x="640080" y="6446520"/>
            <a:ext cx="7315200" cy="274320"/>
          </a:xfrm>
          <a:prstGeom prst="rect">
            <a:avLst/>
          </a:prstGeom>
          <a:noFill/>
          <a:ln/>
        </p:spPr>
        <p:txBody>
          <a:bodyPr wrap="square" lIns="0" tIns="0" rIns="0" bIns="0" rtlCol="0" anchor="ctr"/>
          <a:lstStyle/>
          <a:p>
            <a:pPr indent="0" marL="0">
              <a:buNone/>
            </a:pPr>
            <a:r>
              <a:rPr lang="en-US" sz="1000" dirty="0">
                <a:solidFill>
                  <a:srgbClr val="6B6255"/>
                </a:solidFill>
                <a:latin typeface="Calibri" pitchFamily="34" charset="0"/>
                <a:ea typeface="Calibri" pitchFamily="34" charset="-122"/>
                <a:cs typeface="Calibri" pitchFamily="34" charset="-120"/>
              </a:rPr>
              <a:t>DAX Measures</a:t>
            </a:r>
            <a:endParaRPr lang="en-US" sz="1000" dirty="0"/>
          </a:p>
        </p:txBody>
      </p:sp>
      <p:sp>
        <p:nvSpPr>
          <p:cNvPr id="20" name="Text 18"/>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6B6255"/>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6B6255"/>
                </a:solidFill>
                <a:latin typeface="Calibri" pitchFamily="34" charset="0"/>
                <a:ea typeface="Calibri" pitchFamily="34" charset="-122"/>
                <a:cs typeface="Calibri" pitchFamily="34" charset="-120"/>
              </a:rPr>
              <a:t>THE DASHBOARD</a:t>
            </a:r>
            <a:endParaRPr lang="en-US" sz="1200" dirty="0"/>
          </a:p>
        </p:txBody>
      </p:sp>
      <p:sp>
        <p:nvSpPr>
          <p:cNvPr id="3" name="Text 1"/>
          <p:cNvSpPr/>
          <p:nvPr/>
        </p:nvSpPr>
        <p:spPr>
          <a:xfrm>
            <a:off x="640080" y="822960"/>
            <a:ext cx="10881360" cy="548640"/>
          </a:xfrm>
          <a:prstGeom prst="rect">
            <a:avLst/>
          </a:prstGeom>
          <a:noFill/>
          <a:ln/>
        </p:spPr>
        <p:txBody>
          <a:bodyPr wrap="square" lIns="0" tIns="0" rIns="0" bIns="0" rtlCol="0" anchor="ctr"/>
          <a:lstStyle/>
          <a:p>
            <a:pPr indent="0" marL="0">
              <a:buNone/>
            </a:pPr>
            <a:r>
              <a:rPr lang="en-US" sz="2600" b="1" dirty="0">
                <a:solidFill>
                  <a:srgbClr val="2B2621"/>
                </a:solidFill>
                <a:latin typeface="Georgia" pitchFamily="34" charset="0"/>
                <a:ea typeface="Georgia" pitchFamily="34" charset="-122"/>
                <a:cs typeface="Georgia" pitchFamily="34" charset="-120"/>
              </a:rPr>
              <a:t>Executive Summary</a:t>
            </a:r>
            <a:endParaRPr lang="en-US" sz="2600" dirty="0"/>
          </a:p>
        </p:txBody>
      </p:sp>
      <p:pic>
        <p:nvPicPr>
          <p:cNvPr id="4" name="Image 0" descr="/home/claude/work/dashboard_screens/01_Executive_Summary.png">    </p:cNvPr>
          <p:cNvPicPr>
            <a:picLocks noChangeAspect="1"/>
          </p:cNvPicPr>
          <p:nvPr/>
        </p:nvPicPr>
        <p:blipFill>
          <a:blip r:embed="rId1"/>
          <a:srcRect l="0" r="0" t="0" b="0"/>
          <a:stretch/>
        </p:blipFill>
        <p:spPr>
          <a:xfrm>
            <a:off x="640080" y="1600200"/>
            <a:ext cx="10881360" cy="4480560"/>
          </a:xfrm>
          <a:prstGeom prst="rect">
            <a:avLst/>
          </a:prstGeom>
        </p:spPr>
      </p:pic>
      <p:sp>
        <p:nvSpPr>
          <p:cNvPr id="5" name="Text 2"/>
          <p:cNvSpPr/>
          <p:nvPr/>
        </p:nvSpPr>
        <p:spPr>
          <a:xfrm>
            <a:off x="640080" y="6172200"/>
            <a:ext cx="10881360" cy="365760"/>
          </a:xfrm>
          <a:prstGeom prst="rect">
            <a:avLst/>
          </a:prstGeom>
          <a:noFill/>
          <a:ln/>
        </p:spPr>
        <p:txBody>
          <a:bodyPr wrap="square" lIns="0" tIns="0" rIns="0" bIns="0" rtlCol="0" anchor="ctr"/>
          <a:lstStyle/>
          <a:p>
            <a:pPr indent="0" marL="0">
              <a:buNone/>
            </a:pPr>
            <a:r>
              <a:rPr lang="en-US" sz="1300" i="1" dirty="0">
                <a:solidFill>
                  <a:srgbClr val="6B6255"/>
                </a:solidFill>
                <a:latin typeface="Georgia" pitchFamily="34" charset="0"/>
                <a:ea typeface="Georgia" pitchFamily="34" charset="-122"/>
                <a:cs typeface="Georgia" pitchFamily="34" charset="-120"/>
              </a:rPr>
              <a:t>Average rent, portfolio value, and rent per sqft KPIs, with portfolio value by city and type.</a:t>
            </a:r>
            <a:endParaRPr lang="en-US" sz="1300" dirty="0"/>
          </a:p>
        </p:txBody>
      </p:sp>
      <p:sp>
        <p:nvSpPr>
          <p:cNvPr id="6" name="Text 3"/>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6B6255"/>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6B6255"/>
                </a:solidFill>
                <a:latin typeface="Calibri" pitchFamily="34" charset="0"/>
                <a:ea typeface="Calibri" pitchFamily="34" charset="-122"/>
                <a:cs typeface="Calibri" pitchFamily="34" charset="-120"/>
              </a:rPr>
              <a:t>THE DASHBOARD</a:t>
            </a:r>
            <a:endParaRPr lang="en-US" sz="1200" dirty="0"/>
          </a:p>
        </p:txBody>
      </p:sp>
      <p:sp>
        <p:nvSpPr>
          <p:cNvPr id="3" name="Text 1"/>
          <p:cNvSpPr/>
          <p:nvPr/>
        </p:nvSpPr>
        <p:spPr>
          <a:xfrm>
            <a:off x="640080" y="822960"/>
            <a:ext cx="10881360" cy="548640"/>
          </a:xfrm>
          <a:prstGeom prst="rect">
            <a:avLst/>
          </a:prstGeom>
          <a:noFill/>
          <a:ln/>
        </p:spPr>
        <p:txBody>
          <a:bodyPr wrap="square" lIns="0" tIns="0" rIns="0" bIns="0" rtlCol="0" anchor="ctr"/>
          <a:lstStyle/>
          <a:p>
            <a:pPr indent="0" marL="0">
              <a:buNone/>
            </a:pPr>
            <a:r>
              <a:rPr lang="en-US" sz="2600" b="1" dirty="0">
                <a:solidFill>
                  <a:srgbClr val="2B2621"/>
                </a:solidFill>
                <a:latin typeface="Georgia" pitchFamily="34" charset="0"/>
                <a:ea typeface="Georgia" pitchFamily="34" charset="-122"/>
                <a:cs typeface="Georgia" pitchFamily="34" charset="-120"/>
              </a:rPr>
              <a:t>Trend Analysis</a:t>
            </a:r>
            <a:endParaRPr lang="en-US" sz="2600" dirty="0"/>
          </a:p>
        </p:txBody>
      </p:sp>
      <p:pic>
        <p:nvPicPr>
          <p:cNvPr id="4" name="Image 0" descr="/home/claude/work/dashboard_screens/02_Trend_Analysis.png">    </p:cNvPr>
          <p:cNvPicPr>
            <a:picLocks noChangeAspect="1"/>
          </p:cNvPicPr>
          <p:nvPr/>
        </p:nvPicPr>
        <p:blipFill>
          <a:blip r:embed="rId1"/>
          <a:srcRect l="0" r="0" t="0" b="0"/>
          <a:stretch/>
        </p:blipFill>
        <p:spPr>
          <a:xfrm>
            <a:off x="640080" y="1600200"/>
            <a:ext cx="10881360" cy="4480560"/>
          </a:xfrm>
          <a:prstGeom prst="rect">
            <a:avLst/>
          </a:prstGeom>
        </p:spPr>
      </p:pic>
      <p:sp>
        <p:nvSpPr>
          <p:cNvPr id="5" name="Text 2"/>
          <p:cNvSpPr/>
          <p:nvPr/>
        </p:nvSpPr>
        <p:spPr>
          <a:xfrm>
            <a:off x="640080" y="6172200"/>
            <a:ext cx="10881360" cy="365760"/>
          </a:xfrm>
          <a:prstGeom prst="rect">
            <a:avLst/>
          </a:prstGeom>
          <a:noFill/>
          <a:ln/>
        </p:spPr>
        <p:txBody>
          <a:bodyPr wrap="square" lIns="0" tIns="0" rIns="0" bIns="0" rtlCol="0" anchor="ctr"/>
          <a:lstStyle/>
          <a:p>
            <a:pPr indent="0" marL="0">
              <a:buNone/>
            </a:pPr>
            <a:r>
              <a:rPr lang="en-US" sz="1300" i="1" dirty="0">
                <a:solidFill>
                  <a:srgbClr val="6B6255"/>
                </a:solidFill>
                <a:latin typeface="Georgia" pitchFamily="34" charset="0"/>
                <a:ea typeface="Georgia" pitchFamily="34" charset="-122"/>
                <a:cs typeface="Georgia" pitchFamily="34" charset="-120"/>
              </a:rPr>
              <a:t>Listings and average rent over time, with year-over-year rent growth from 2018 to 2024.</a:t>
            </a:r>
            <a:endParaRPr lang="en-US" sz="1300" dirty="0"/>
          </a:p>
        </p:txBody>
      </p:sp>
      <p:sp>
        <p:nvSpPr>
          <p:cNvPr id="6" name="Text 3"/>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6B6255"/>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6B6255"/>
                </a:solidFill>
                <a:latin typeface="Calibri" pitchFamily="34" charset="0"/>
                <a:ea typeface="Calibri" pitchFamily="34" charset="-122"/>
                <a:cs typeface="Calibri" pitchFamily="34" charset="-120"/>
              </a:rPr>
              <a:t>THE DASHBOARD</a:t>
            </a:r>
            <a:endParaRPr lang="en-US" sz="1200" dirty="0"/>
          </a:p>
        </p:txBody>
      </p:sp>
      <p:sp>
        <p:nvSpPr>
          <p:cNvPr id="3" name="Text 1"/>
          <p:cNvSpPr/>
          <p:nvPr/>
        </p:nvSpPr>
        <p:spPr>
          <a:xfrm>
            <a:off x="640080" y="822960"/>
            <a:ext cx="10881360" cy="548640"/>
          </a:xfrm>
          <a:prstGeom prst="rect">
            <a:avLst/>
          </a:prstGeom>
          <a:noFill/>
          <a:ln/>
        </p:spPr>
        <p:txBody>
          <a:bodyPr wrap="square" lIns="0" tIns="0" rIns="0" bIns="0" rtlCol="0" anchor="ctr"/>
          <a:lstStyle/>
          <a:p>
            <a:pPr indent="0" marL="0">
              <a:buNone/>
            </a:pPr>
            <a:r>
              <a:rPr lang="en-US" sz="2600" b="1" dirty="0">
                <a:solidFill>
                  <a:srgbClr val="2B2621"/>
                </a:solidFill>
                <a:latin typeface="Georgia" pitchFamily="34" charset="0"/>
                <a:ea typeface="Georgia" pitchFamily="34" charset="-122"/>
                <a:cs typeface="Georgia" pitchFamily="34" charset="-120"/>
              </a:rPr>
              <a:t>Geographic &amp; Segment Analysis</a:t>
            </a:r>
            <a:endParaRPr lang="en-US" sz="2600" dirty="0"/>
          </a:p>
        </p:txBody>
      </p:sp>
      <p:pic>
        <p:nvPicPr>
          <p:cNvPr id="4" name="Image 0" descr="/home/claude/work/dashboard_screens/03_Geographic_Segment_Analysis.png">    </p:cNvPr>
          <p:cNvPicPr>
            <a:picLocks noChangeAspect="1"/>
          </p:cNvPicPr>
          <p:nvPr/>
        </p:nvPicPr>
        <p:blipFill>
          <a:blip r:embed="rId1"/>
          <a:srcRect l="0" r="0" t="0" b="0"/>
          <a:stretch/>
        </p:blipFill>
        <p:spPr>
          <a:xfrm>
            <a:off x="640080" y="1600200"/>
            <a:ext cx="10881360" cy="4480560"/>
          </a:xfrm>
          <a:prstGeom prst="rect">
            <a:avLst/>
          </a:prstGeom>
        </p:spPr>
      </p:pic>
      <p:sp>
        <p:nvSpPr>
          <p:cNvPr id="5" name="Text 2"/>
          <p:cNvSpPr/>
          <p:nvPr/>
        </p:nvSpPr>
        <p:spPr>
          <a:xfrm>
            <a:off x="640080" y="6172200"/>
            <a:ext cx="10881360" cy="365760"/>
          </a:xfrm>
          <a:prstGeom prst="rect">
            <a:avLst/>
          </a:prstGeom>
          <a:noFill/>
          <a:ln/>
        </p:spPr>
        <p:txBody>
          <a:bodyPr wrap="square" lIns="0" tIns="0" rIns="0" bIns="0" rtlCol="0" anchor="ctr"/>
          <a:lstStyle/>
          <a:p>
            <a:pPr indent="0" marL="0">
              <a:buNone/>
            </a:pPr>
            <a:r>
              <a:rPr lang="en-US" sz="1300" i="1" dirty="0">
                <a:solidFill>
                  <a:srgbClr val="6B6255"/>
                </a:solidFill>
                <a:latin typeface="Georgia" pitchFamily="34" charset="0"/>
                <a:ea typeface="Georgia" pitchFamily="34" charset="-122"/>
                <a:cs typeface="Georgia" pitchFamily="34" charset="-120"/>
              </a:rPr>
              <a:t>Listings mapped by location, filterable by property type, budget tier, and furnishing.</a:t>
            </a:r>
            <a:endParaRPr lang="en-US" sz="1300" dirty="0"/>
          </a:p>
        </p:txBody>
      </p:sp>
      <p:sp>
        <p:nvSpPr>
          <p:cNvPr id="6" name="Text 3"/>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6B6255"/>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6B6255"/>
                </a:solidFill>
                <a:latin typeface="Calibri" pitchFamily="34" charset="0"/>
                <a:ea typeface="Calibri" pitchFamily="34" charset="-122"/>
                <a:cs typeface="Calibri" pitchFamily="34" charset="-120"/>
              </a:rPr>
              <a:t>THE DASHBOARD</a:t>
            </a:r>
            <a:endParaRPr lang="en-US" sz="1200" dirty="0"/>
          </a:p>
        </p:txBody>
      </p:sp>
      <p:sp>
        <p:nvSpPr>
          <p:cNvPr id="3" name="Text 1"/>
          <p:cNvSpPr/>
          <p:nvPr/>
        </p:nvSpPr>
        <p:spPr>
          <a:xfrm>
            <a:off x="640080" y="822960"/>
            <a:ext cx="10881360" cy="548640"/>
          </a:xfrm>
          <a:prstGeom prst="rect">
            <a:avLst/>
          </a:prstGeom>
          <a:noFill/>
          <a:ln/>
        </p:spPr>
        <p:txBody>
          <a:bodyPr wrap="square" lIns="0" tIns="0" rIns="0" bIns="0" rtlCol="0" anchor="ctr"/>
          <a:lstStyle/>
          <a:p>
            <a:pPr indent="0" marL="0">
              <a:buNone/>
            </a:pPr>
            <a:r>
              <a:rPr lang="en-US" sz="2600" b="1" dirty="0">
                <a:solidFill>
                  <a:srgbClr val="2B2621"/>
                </a:solidFill>
                <a:latin typeface="Georgia" pitchFamily="34" charset="0"/>
                <a:ea typeface="Georgia" pitchFamily="34" charset="-122"/>
                <a:cs typeface="Georgia" pitchFamily="34" charset="-120"/>
              </a:rPr>
              <a:t>Property Drill-Through</a:t>
            </a:r>
            <a:endParaRPr lang="en-US" sz="2600" dirty="0"/>
          </a:p>
        </p:txBody>
      </p:sp>
      <p:pic>
        <p:nvPicPr>
          <p:cNvPr id="4" name="Image 0" descr="/home/claude/work/dashboard_screens/04_Property_Drill_Through.png">    </p:cNvPr>
          <p:cNvPicPr>
            <a:picLocks noChangeAspect="1"/>
          </p:cNvPicPr>
          <p:nvPr/>
        </p:nvPicPr>
        <p:blipFill>
          <a:blip r:embed="rId1"/>
          <a:srcRect l="0" r="0" t="0" b="0"/>
          <a:stretch/>
        </p:blipFill>
        <p:spPr>
          <a:xfrm>
            <a:off x="640080" y="1600200"/>
            <a:ext cx="10881360" cy="4480560"/>
          </a:xfrm>
          <a:prstGeom prst="rect">
            <a:avLst/>
          </a:prstGeom>
        </p:spPr>
      </p:pic>
      <p:sp>
        <p:nvSpPr>
          <p:cNvPr id="5" name="Text 2"/>
          <p:cNvSpPr/>
          <p:nvPr/>
        </p:nvSpPr>
        <p:spPr>
          <a:xfrm>
            <a:off x="640080" y="6172200"/>
            <a:ext cx="10881360" cy="365760"/>
          </a:xfrm>
          <a:prstGeom prst="rect">
            <a:avLst/>
          </a:prstGeom>
          <a:noFill/>
          <a:ln/>
        </p:spPr>
        <p:txBody>
          <a:bodyPr wrap="square" lIns="0" tIns="0" rIns="0" bIns="0" rtlCol="0" anchor="ctr"/>
          <a:lstStyle/>
          <a:p>
            <a:pPr indent="0" marL="0">
              <a:buNone/>
            </a:pPr>
            <a:r>
              <a:rPr lang="en-US" sz="1300" i="1" dirty="0">
                <a:solidFill>
                  <a:srgbClr val="6B6255"/>
                </a:solidFill>
                <a:latin typeface="Georgia" pitchFamily="34" charset="0"/>
                <a:ea typeface="Georgia" pitchFamily="34" charset="-122"/>
                <a:cs typeface="Georgia" pitchFamily="34" charset="-120"/>
              </a:rPr>
              <a:t>Property-level detail with key influencers on what drives average rent up or down.</a:t>
            </a:r>
            <a:endParaRPr lang="en-US" sz="1300" dirty="0"/>
          </a:p>
        </p:txBody>
      </p:sp>
      <p:sp>
        <p:nvSpPr>
          <p:cNvPr id="6" name="Text 3"/>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6B625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6B6255"/>
                </a:solidFill>
                <a:latin typeface="Calibri" pitchFamily="34" charset="0"/>
                <a:ea typeface="Calibri" pitchFamily="34" charset="-122"/>
                <a:cs typeface="Calibri" pitchFamily="34" charset="-120"/>
              </a:rPr>
              <a:t>THE DASHBOARD</a:t>
            </a:r>
            <a:endParaRPr lang="en-US" sz="1200" dirty="0"/>
          </a:p>
        </p:txBody>
      </p:sp>
      <p:sp>
        <p:nvSpPr>
          <p:cNvPr id="3" name="Text 1"/>
          <p:cNvSpPr/>
          <p:nvPr/>
        </p:nvSpPr>
        <p:spPr>
          <a:xfrm>
            <a:off x="640080" y="822960"/>
            <a:ext cx="10881360" cy="548640"/>
          </a:xfrm>
          <a:prstGeom prst="rect">
            <a:avLst/>
          </a:prstGeom>
          <a:noFill/>
          <a:ln/>
        </p:spPr>
        <p:txBody>
          <a:bodyPr wrap="square" lIns="0" tIns="0" rIns="0" bIns="0" rtlCol="0" anchor="ctr"/>
          <a:lstStyle/>
          <a:p>
            <a:pPr indent="0" marL="0">
              <a:buNone/>
            </a:pPr>
            <a:r>
              <a:rPr lang="en-US" sz="2600" b="1" dirty="0">
                <a:solidFill>
                  <a:srgbClr val="2B2621"/>
                </a:solidFill>
                <a:latin typeface="Georgia" pitchFamily="34" charset="0"/>
                <a:ea typeface="Georgia" pitchFamily="34" charset="-122"/>
                <a:cs typeface="Georgia" pitchFamily="34" charset="-120"/>
              </a:rPr>
              <a:t>Property &amp; Furnishing Insights</a:t>
            </a:r>
            <a:endParaRPr lang="en-US" sz="2600" dirty="0"/>
          </a:p>
        </p:txBody>
      </p:sp>
      <p:pic>
        <p:nvPicPr>
          <p:cNvPr id="4" name="Image 0" descr="/home/claude/work/dashboard_screens/05_Property_Furnishing_Insights.png">    </p:cNvPr>
          <p:cNvPicPr>
            <a:picLocks noChangeAspect="1"/>
          </p:cNvPicPr>
          <p:nvPr/>
        </p:nvPicPr>
        <p:blipFill>
          <a:blip r:embed="rId1"/>
          <a:srcRect l="0" r="0" t="0" b="0"/>
          <a:stretch/>
        </p:blipFill>
        <p:spPr>
          <a:xfrm>
            <a:off x="640080" y="1600200"/>
            <a:ext cx="10881360" cy="4480560"/>
          </a:xfrm>
          <a:prstGeom prst="rect">
            <a:avLst/>
          </a:prstGeom>
        </p:spPr>
      </p:pic>
      <p:sp>
        <p:nvSpPr>
          <p:cNvPr id="5" name="Text 2"/>
          <p:cNvSpPr/>
          <p:nvPr/>
        </p:nvSpPr>
        <p:spPr>
          <a:xfrm>
            <a:off x="640080" y="6172200"/>
            <a:ext cx="10881360" cy="365760"/>
          </a:xfrm>
          <a:prstGeom prst="rect">
            <a:avLst/>
          </a:prstGeom>
          <a:noFill/>
          <a:ln/>
        </p:spPr>
        <p:txBody>
          <a:bodyPr wrap="square" lIns="0" tIns="0" rIns="0" bIns="0" rtlCol="0" anchor="ctr"/>
          <a:lstStyle/>
          <a:p>
            <a:pPr indent="0" marL="0">
              <a:buNone/>
            </a:pPr>
            <a:r>
              <a:rPr lang="en-US" sz="1300" i="1" dirty="0">
                <a:solidFill>
                  <a:srgbClr val="6B6255"/>
                </a:solidFill>
                <a:latin typeface="Georgia" pitchFamily="34" charset="0"/>
                <a:ea typeface="Georgia" pitchFamily="34" charset="-122"/>
                <a:cs typeface="Georgia" pitchFamily="34" charset="-120"/>
              </a:rPr>
              <a:t>Listings by property type and rent category, with furnishing and area segmentation.</a:t>
            </a:r>
            <a:endParaRPr lang="en-US" sz="1300" dirty="0"/>
          </a:p>
        </p:txBody>
      </p:sp>
      <p:sp>
        <p:nvSpPr>
          <p:cNvPr id="6" name="Text 3"/>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6B625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6B6255"/>
                </a:solidFill>
                <a:latin typeface="Calibri" pitchFamily="34" charset="0"/>
                <a:ea typeface="Calibri" pitchFamily="34" charset="-122"/>
                <a:cs typeface="Calibri" pitchFamily="34" charset="-120"/>
              </a:rPr>
              <a:t>FINDINGS</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000" b="1" dirty="0">
                <a:solidFill>
                  <a:srgbClr val="2B2621"/>
                </a:solidFill>
                <a:latin typeface="Georgia" pitchFamily="34" charset="0"/>
                <a:ea typeface="Georgia" pitchFamily="34" charset="-122"/>
                <a:cs typeface="Georgia" pitchFamily="34" charset="-120"/>
              </a:rPr>
              <a:t>Key insights</a:t>
            </a:r>
            <a:endParaRPr lang="en-US" sz="3000" dirty="0"/>
          </a:p>
        </p:txBody>
      </p:sp>
      <p:sp>
        <p:nvSpPr>
          <p:cNvPr id="4" name="Text 2"/>
          <p:cNvSpPr/>
          <p:nvPr/>
        </p:nvSpPr>
        <p:spPr>
          <a:xfrm>
            <a:off x="640080" y="1965960"/>
            <a:ext cx="10881360" cy="365760"/>
          </a:xfrm>
          <a:prstGeom prst="rect">
            <a:avLst/>
          </a:prstGeom>
          <a:noFill/>
          <a:ln/>
        </p:spPr>
        <p:txBody>
          <a:bodyPr wrap="square" lIns="0" tIns="0" rIns="0" bIns="0" rtlCol="0" anchor="ctr"/>
          <a:lstStyle/>
          <a:p>
            <a:pPr indent="0" marL="0">
              <a:buNone/>
            </a:pPr>
            <a:r>
              <a:rPr lang="en-US" sz="1600" b="1" dirty="0">
                <a:solidFill>
                  <a:srgbClr val="2B2621"/>
                </a:solidFill>
                <a:latin typeface="Georgia" pitchFamily="34" charset="0"/>
                <a:ea typeface="Georgia" pitchFamily="34" charset="-122"/>
                <a:cs typeface="Georgia" pitchFamily="34" charset="-120"/>
              </a:rPr>
              <a:t>Dubai leads volume, Abu Dhabi leads price.</a:t>
            </a:r>
            <a:endParaRPr lang="en-US" sz="1600" dirty="0"/>
          </a:p>
        </p:txBody>
      </p:sp>
      <p:sp>
        <p:nvSpPr>
          <p:cNvPr id="5" name="Text 3"/>
          <p:cNvSpPr/>
          <p:nvPr/>
        </p:nvSpPr>
        <p:spPr>
          <a:xfrm>
            <a:off x="640080" y="2350008"/>
            <a:ext cx="10881360" cy="685800"/>
          </a:xfrm>
          <a:prstGeom prst="rect">
            <a:avLst/>
          </a:prstGeom>
          <a:noFill/>
          <a:ln/>
        </p:spPr>
        <p:txBody>
          <a:bodyPr wrap="square" lIns="0" tIns="0" rIns="0" bIns="0" rtlCol="0" anchor="ctr"/>
          <a:lstStyle/>
          <a:p>
            <a:pPr indent="0" marL="0">
              <a:lnSpc>
                <a:spcPts val="1800"/>
              </a:lnSpc>
              <a:buNone/>
            </a:pPr>
            <a:r>
              <a:rPr lang="en-US" sz="1300" dirty="0">
                <a:solidFill>
                  <a:srgbClr val="6B6255"/>
                </a:solidFill>
                <a:latin typeface="Calibri" pitchFamily="34" charset="0"/>
                <a:ea typeface="Calibri" pitchFamily="34" charset="-122"/>
                <a:cs typeface="Calibri" pitchFamily="34" charset="-120"/>
              </a:rPr>
              <a:t>Dubai holds 46% of listings, but Abu Dhabi neighborhoods like Al Reem and Yas Island rank among the highest average rents — a distinct premium segment.</a:t>
            </a:r>
            <a:endParaRPr lang="en-US" sz="1300" dirty="0"/>
          </a:p>
        </p:txBody>
      </p:sp>
      <p:sp>
        <p:nvSpPr>
          <p:cNvPr id="6" name="Text 4"/>
          <p:cNvSpPr/>
          <p:nvPr/>
        </p:nvSpPr>
        <p:spPr>
          <a:xfrm>
            <a:off x="640080" y="3337560"/>
            <a:ext cx="10881360" cy="365760"/>
          </a:xfrm>
          <a:prstGeom prst="rect">
            <a:avLst/>
          </a:prstGeom>
          <a:noFill/>
          <a:ln/>
        </p:spPr>
        <p:txBody>
          <a:bodyPr wrap="square" lIns="0" tIns="0" rIns="0" bIns="0" rtlCol="0" anchor="ctr"/>
          <a:lstStyle/>
          <a:p>
            <a:pPr indent="0" marL="0">
              <a:buNone/>
            </a:pPr>
            <a:r>
              <a:rPr lang="en-US" sz="1600" b="1" dirty="0">
                <a:solidFill>
                  <a:srgbClr val="2B2621"/>
                </a:solidFill>
                <a:latin typeface="Georgia" pitchFamily="34" charset="0"/>
                <a:ea typeface="Georgia" pitchFamily="34" charset="-122"/>
                <a:cs typeface="Georgia" pitchFamily="34" charset="-120"/>
              </a:rPr>
              <a:t>Unfurnished listings dominate.</a:t>
            </a:r>
            <a:endParaRPr lang="en-US" sz="1600" dirty="0"/>
          </a:p>
        </p:txBody>
      </p:sp>
      <p:sp>
        <p:nvSpPr>
          <p:cNvPr id="7" name="Text 5"/>
          <p:cNvSpPr/>
          <p:nvPr/>
        </p:nvSpPr>
        <p:spPr>
          <a:xfrm>
            <a:off x="640080" y="3721608"/>
            <a:ext cx="10881360" cy="685800"/>
          </a:xfrm>
          <a:prstGeom prst="rect">
            <a:avLst/>
          </a:prstGeom>
          <a:noFill/>
          <a:ln/>
        </p:spPr>
        <p:txBody>
          <a:bodyPr wrap="square" lIns="0" tIns="0" rIns="0" bIns="0" rtlCol="0" anchor="ctr"/>
          <a:lstStyle/>
          <a:p>
            <a:pPr indent="0" marL="0">
              <a:lnSpc>
                <a:spcPts val="1800"/>
              </a:lnSpc>
              <a:buNone/>
            </a:pPr>
            <a:r>
              <a:rPr lang="en-US" sz="1300" dirty="0">
                <a:solidFill>
                  <a:srgbClr val="6B6255"/>
                </a:solidFill>
                <a:latin typeface="Calibri" pitchFamily="34" charset="0"/>
                <a:ea typeface="Calibri" pitchFamily="34" charset="-122"/>
                <a:cs typeface="Calibri" pitchFamily="34" charset="-120"/>
              </a:rPr>
              <a:t>The majority of listings are unfurnished, pointing to a long-term tenant market rather than short-term furnished demand.</a:t>
            </a:r>
            <a:endParaRPr lang="en-US" sz="1300" dirty="0"/>
          </a:p>
        </p:txBody>
      </p:sp>
      <p:sp>
        <p:nvSpPr>
          <p:cNvPr id="8" name="Text 6"/>
          <p:cNvSpPr/>
          <p:nvPr/>
        </p:nvSpPr>
        <p:spPr>
          <a:xfrm>
            <a:off x="640080" y="4709160"/>
            <a:ext cx="10881360" cy="365760"/>
          </a:xfrm>
          <a:prstGeom prst="rect">
            <a:avLst/>
          </a:prstGeom>
          <a:noFill/>
          <a:ln/>
        </p:spPr>
        <p:txBody>
          <a:bodyPr wrap="square" lIns="0" tIns="0" rIns="0" bIns="0" rtlCol="0" anchor="ctr"/>
          <a:lstStyle/>
          <a:p>
            <a:pPr indent="0" marL="0">
              <a:buNone/>
            </a:pPr>
            <a:r>
              <a:rPr lang="en-US" sz="1600" b="1" dirty="0">
                <a:solidFill>
                  <a:srgbClr val="2B2621"/>
                </a:solidFill>
                <a:latin typeface="Georgia" pitchFamily="34" charset="0"/>
                <a:ea typeface="Georgia" pitchFamily="34" charset="-122"/>
                <a:cs typeface="Georgia" pitchFamily="34" charset="-120"/>
              </a:rPr>
              <a:t>Stale inventory is concentrated.</a:t>
            </a:r>
            <a:endParaRPr lang="en-US" sz="1600" dirty="0"/>
          </a:p>
        </p:txBody>
      </p:sp>
      <p:sp>
        <p:nvSpPr>
          <p:cNvPr id="9" name="Text 7"/>
          <p:cNvSpPr/>
          <p:nvPr/>
        </p:nvSpPr>
        <p:spPr>
          <a:xfrm>
            <a:off x="640080" y="5093208"/>
            <a:ext cx="10881360" cy="685800"/>
          </a:xfrm>
          <a:prstGeom prst="rect">
            <a:avLst/>
          </a:prstGeom>
          <a:noFill/>
          <a:ln/>
        </p:spPr>
        <p:txBody>
          <a:bodyPr wrap="square" lIns="0" tIns="0" rIns="0" bIns="0" rtlCol="0" anchor="ctr"/>
          <a:lstStyle/>
          <a:p>
            <a:pPr indent="0" marL="0">
              <a:lnSpc>
                <a:spcPts val="1800"/>
              </a:lnSpc>
              <a:buNone/>
            </a:pPr>
            <a:r>
              <a:rPr lang="en-US" sz="1300" dirty="0">
                <a:solidFill>
                  <a:srgbClr val="6B6255"/>
                </a:solidFill>
                <a:latin typeface="Calibri" pitchFamily="34" charset="0"/>
                <a:ea typeface="Calibri" pitchFamily="34" charset="-122"/>
                <a:cs typeface="Calibri" pitchFamily="34" charset="-120"/>
              </a:rPr>
              <a:t>A meaningful share of listings sit active for more than 30 days, flagging possible overpricing or mismatched demand in specific segments.</a:t>
            </a:r>
            <a:endParaRPr lang="en-US" sz="1300" dirty="0"/>
          </a:p>
        </p:txBody>
      </p:sp>
      <p:sp>
        <p:nvSpPr>
          <p:cNvPr id="10" name="Text 8"/>
          <p:cNvSpPr/>
          <p:nvPr/>
        </p:nvSpPr>
        <p:spPr>
          <a:xfrm>
            <a:off x="640080" y="6446520"/>
            <a:ext cx="7315200" cy="274320"/>
          </a:xfrm>
          <a:prstGeom prst="rect">
            <a:avLst/>
          </a:prstGeom>
          <a:noFill/>
          <a:ln/>
        </p:spPr>
        <p:txBody>
          <a:bodyPr wrap="square" lIns="0" tIns="0" rIns="0" bIns="0" rtlCol="0" anchor="ctr"/>
          <a:lstStyle/>
          <a:p>
            <a:pPr indent="0" marL="0">
              <a:buNone/>
            </a:pPr>
            <a:r>
              <a:rPr lang="en-US" sz="1000" dirty="0">
                <a:solidFill>
                  <a:srgbClr val="6B6255"/>
                </a:solidFill>
                <a:latin typeface="Calibri" pitchFamily="34" charset="0"/>
                <a:ea typeface="Calibri" pitchFamily="34" charset="-122"/>
                <a:cs typeface="Calibri" pitchFamily="34" charset="-120"/>
              </a:rPr>
              <a:t>Key Insights</a:t>
            </a:r>
            <a:endParaRPr lang="en-US" sz="1000" dirty="0"/>
          </a:p>
        </p:txBody>
      </p:sp>
      <p:sp>
        <p:nvSpPr>
          <p:cNvPr id="11" name="Text 9"/>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6B625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indent="0" marL="0">
              <a:buNone/>
            </a:pPr>
            <a:r>
              <a:rPr lang="en-US" sz="1200" spc="200" kern="0" dirty="0">
                <a:solidFill>
                  <a:srgbClr val="6B6255"/>
                </a:solidFill>
                <a:latin typeface="Calibri" pitchFamily="34" charset="0"/>
                <a:ea typeface="Calibri" pitchFamily="34" charset="-122"/>
                <a:cs typeface="Calibri" pitchFamily="34" charset="-120"/>
              </a:rPr>
              <a:t>NEXT STEPS</a:t>
            </a:r>
            <a:endParaRPr lang="en-US" sz="1200" dirty="0"/>
          </a:p>
        </p:txBody>
      </p:sp>
      <p:sp>
        <p:nvSpPr>
          <p:cNvPr id="3" name="Text 1"/>
          <p:cNvSpPr/>
          <p:nvPr/>
        </p:nvSpPr>
        <p:spPr>
          <a:xfrm>
            <a:off x="640080" y="822960"/>
            <a:ext cx="10881360" cy="822960"/>
          </a:xfrm>
          <a:prstGeom prst="rect">
            <a:avLst/>
          </a:prstGeom>
          <a:noFill/>
          <a:ln/>
        </p:spPr>
        <p:txBody>
          <a:bodyPr wrap="square" lIns="0" tIns="0" rIns="0" bIns="0" rtlCol="0" anchor="ctr"/>
          <a:lstStyle/>
          <a:p>
            <a:pPr indent="0" marL="0">
              <a:buNone/>
            </a:pPr>
            <a:r>
              <a:rPr lang="en-US" sz="3000" b="1" dirty="0">
                <a:solidFill>
                  <a:srgbClr val="2B2621"/>
                </a:solidFill>
                <a:latin typeface="Georgia" pitchFamily="34" charset="0"/>
                <a:ea typeface="Georgia" pitchFamily="34" charset="-122"/>
                <a:cs typeface="Georgia" pitchFamily="34" charset="-120"/>
              </a:rPr>
              <a:t>Recommendations</a:t>
            </a:r>
            <a:endParaRPr lang="en-US" sz="3000" dirty="0"/>
          </a:p>
        </p:txBody>
      </p:sp>
      <p:sp>
        <p:nvSpPr>
          <p:cNvPr id="4" name="Text 2"/>
          <p:cNvSpPr/>
          <p:nvPr/>
        </p:nvSpPr>
        <p:spPr>
          <a:xfrm>
            <a:off x="640080" y="1965960"/>
            <a:ext cx="10881360" cy="4023360"/>
          </a:xfrm>
          <a:prstGeom prst="rect">
            <a:avLst/>
          </a:prstGeom>
          <a:noFill/>
          <a:ln/>
        </p:spPr>
        <p:txBody>
          <a:bodyPr wrap="square" lIns="0" tIns="0" rIns="0" bIns="0" rtlCol="0" anchor="ctr"/>
          <a:lstStyle/>
          <a:p>
            <a:pPr marL="342900" indent="-342900">
              <a:lnSpc>
                <a:spcPts val="2400"/>
              </a:lnSpc>
              <a:spcAft>
                <a:spcPts val="1400"/>
              </a:spcAft>
              <a:buSzPct val="100000"/>
              <a:buChar char="–"/>
            </a:pPr>
            <a:r>
              <a:rPr lang="en-US" sz="1600" dirty="0">
                <a:solidFill>
                  <a:srgbClr val="2B2621"/>
                </a:solidFill>
                <a:latin typeface="Georgia" pitchFamily="34" charset="0"/>
                <a:ea typeface="Georgia" pitchFamily="34" charset="-122"/>
                <a:cs typeface="Georgia" pitchFamily="34" charset="-120"/>
              </a:rPr>
              <a:t>Target furnished short-term rental supply in high-demand, currently under-furnished locations.</a:t>
            </a:r>
            <a:endParaRPr lang="en-US" sz="1600" dirty="0"/>
          </a:p>
          <a:p>
            <a:pPr marL="342900" indent="-342900">
              <a:lnSpc>
                <a:spcPts val="2400"/>
              </a:lnSpc>
              <a:spcAft>
                <a:spcPts val="1400"/>
              </a:spcAft>
              <a:buSzPct val="100000"/>
              <a:buChar char="–"/>
            </a:pPr>
            <a:r>
              <a:rPr lang="en-US" sz="1600" dirty="0">
                <a:solidFill>
                  <a:srgbClr val="2B2621"/>
                </a:solidFill>
                <a:latin typeface="Georgia" pitchFamily="34" charset="0"/>
                <a:ea typeface="Georgia" pitchFamily="34" charset="-122"/>
                <a:cs typeface="Georgia" pitchFamily="34" charset="-120"/>
              </a:rPr>
              <a:t>Prioritize marketing spend on Abu Dhabi premium micro-markets such as Al Reem and Yas Island.</a:t>
            </a:r>
            <a:endParaRPr lang="en-US" sz="1600" dirty="0"/>
          </a:p>
          <a:p>
            <a:pPr marL="342900" indent="-342900">
              <a:lnSpc>
                <a:spcPts val="2400"/>
              </a:lnSpc>
              <a:spcAft>
                <a:spcPts val="1400"/>
              </a:spcAft>
              <a:buSzPct val="100000"/>
              <a:buChar char="–"/>
            </a:pPr>
            <a:r>
              <a:rPr lang="en-US" sz="1600" dirty="0">
                <a:solidFill>
                  <a:srgbClr val="2B2621"/>
                </a:solidFill>
                <a:latin typeface="Georgia" pitchFamily="34" charset="0"/>
                <a:ea typeface="Georgia" pitchFamily="34" charset="-122"/>
                <a:cs typeface="Georgia" pitchFamily="34" charset="-120"/>
              </a:rPr>
              <a:t>Flag and re-price stale listings automatically once they pass the 30-day threshold.</a:t>
            </a:r>
            <a:endParaRPr lang="en-US" sz="1600" dirty="0"/>
          </a:p>
          <a:p>
            <a:pPr marL="342900" indent="-342900">
              <a:lnSpc>
                <a:spcPts val="2400"/>
              </a:lnSpc>
              <a:spcAft>
                <a:spcPts val="1400"/>
              </a:spcAft>
              <a:buSzPct val="100000"/>
              <a:buChar char="–"/>
            </a:pPr>
            <a:r>
              <a:rPr lang="en-US" sz="1600" dirty="0">
                <a:solidFill>
                  <a:srgbClr val="2B2621"/>
                </a:solidFill>
                <a:latin typeface="Georgia" pitchFamily="34" charset="0"/>
                <a:ea typeface="Georgia" pitchFamily="34" charset="-122"/>
                <a:cs typeface="Georgia" pitchFamily="34" charset="-120"/>
              </a:rPr>
              <a:t>Use rank and tier measures to guide investors toward top-3 locations by average rent.</a:t>
            </a:r>
            <a:endParaRPr lang="en-US" sz="1600" dirty="0"/>
          </a:p>
          <a:p>
            <a:pPr marL="342900" indent="-342900">
              <a:lnSpc>
                <a:spcPts val="2400"/>
              </a:lnSpc>
              <a:spcAft>
                <a:spcPts val="1400"/>
              </a:spcAft>
              <a:buSzPct val="100000"/>
              <a:buChar char="–"/>
            </a:pPr>
            <a:r>
              <a:rPr lang="en-US" sz="1600" dirty="0">
                <a:solidFill>
                  <a:srgbClr val="2B2621"/>
                </a:solidFill>
                <a:latin typeface="Georgia" pitchFamily="34" charset="0"/>
                <a:ea typeface="Georgia" pitchFamily="34" charset="-122"/>
                <a:cs typeface="Georgia" pitchFamily="34" charset="-120"/>
              </a:rPr>
              <a:t>Extend the model with a Purpose dimension once for-sale listings are added, to compare rent vs. sale yield.</a:t>
            </a:r>
            <a:endParaRPr lang="en-US" sz="1600" dirty="0"/>
          </a:p>
        </p:txBody>
      </p:sp>
      <p:sp>
        <p:nvSpPr>
          <p:cNvPr id="5" name="Text 3"/>
          <p:cNvSpPr/>
          <p:nvPr/>
        </p:nvSpPr>
        <p:spPr>
          <a:xfrm>
            <a:off x="640080" y="6446520"/>
            <a:ext cx="7315200" cy="274320"/>
          </a:xfrm>
          <a:prstGeom prst="rect">
            <a:avLst/>
          </a:prstGeom>
          <a:noFill/>
          <a:ln/>
        </p:spPr>
        <p:txBody>
          <a:bodyPr wrap="square" lIns="0" tIns="0" rIns="0" bIns="0" rtlCol="0" anchor="ctr"/>
          <a:lstStyle/>
          <a:p>
            <a:pPr indent="0" marL="0">
              <a:buNone/>
            </a:pPr>
            <a:r>
              <a:rPr lang="en-US" sz="1000" dirty="0">
                <a:solidFill>
                  <a:srgbClr val="6B6255"/>
                </a:solidFill>
                <a:latin typeface="Calibri" pitchFamily="34" charset="0"/>
                <a:ea typeface="Calibri" pitchFamily="34" charset="-122"/>
                <a:cs typeface="Calibri" pitchFamily="34" charset="-120"/>
              </a:rPr>
              <a:t>Recommendations</a:t>
            </a:r>
            <a:endParaRPr lang="en-US" sz="1000" dirty="0"/>
          </a:p>
        </p:txBody>
      </p:sp>
      <p:sp>
        <p:nvSpPr>
          <p:cNvPr id="6" name="Text 4"/>
          <p:cNvSpPr/>
          <p:nvPr/>
        </p:nvSpPr>
        <p:spPr>
          <a:xfrm>
            <a:off x="11475720" y="6446520"/>
            <a:ext cx="548640" cy="274320"/>
          </a:xfrm>
          <a:prstGeom prst="rect">
            <a:avLst/>
          </a:prstGeom>
          <a:noFill/>
          <a:ln/>
        </p:spPr>
        <p:txBody>
          <a:bodyPr wrap="square" lIns="0" tIns="0" rIns="0" bIns="0" rtlCol="0" anchor="ctr"/>
          <a:lstStyle/>
          <a:p>
            <a:pPr algn="r" indent="0" marL="0">
              <a:buNone/>
            </a:pPr>
            <a:r>
              <a:rPr lang="en-US" sz="1000" dirty="0">
                <a:solidFill>
                  <a:srgbClr val="6B625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22960" y="2651760"/>
            <a:ext cx="10515600" cy="1097280"/>
          </a:xfrm>
          <a:prstGeom prst="rect">
            <a:avLst/>
          </a:prstGeom>
          <a:noFill/>
          <a:ln/>
        </p:spPr>
        <p:txBody>
          <a:bodyPr wrap="square" lIns="0" tIns="0" rIns="0" bIns="0" rtlCol="0" anchor="ctr"/>
          <a:lstStyle/>
          <a:p>
            <a:pPr indent="0" marL="0">
              <a:buNone/>
            </a:pPr>
            <a:r>
              <a:rPr lang="en-US" sz="4400" b="1" dirty="0">
                <a:solidFill>
                  <a:srgbClr val="2B2621"/>
                </a:solidFill>
                <a:latin typeface="Georgia" pitchFamily="34" charset="0"/>
                <a:ea typeface="Georgia" pitchFamily="34" charset="-122"/>
                <a:cs typeface="Georgia" pitchFamily="34" charset="-120"/>
              </a:rPr>
              <a:t>Thank you</a:t>
            </a:r>
            <a:endParaRPr lang="en-US" sz="4400" dirty="0"/>
          </a:p>
        </p:txBody>
      </p:sp>
      <p:sp>
        <p:nvSpPr>
          <p:cNvPr id="3" name="Text 1"/>
          <p:cNvSpPr/>
          <p:nvPr/>
        </p:nvSpPr>
        <p:spPr>
          <a:xfrm>
            <a:off x="822960" y="3611880"/>
            <a:ext cx="10515600" cy="457200"/>
          </a:xfrm>
          <a:prstGeom prst="rect">
            <a:avLst/>
          </a:prstGeom>
          <a:noFill/>
          <a:ln/>
        </p:spPr>
        <p:txBody>
          <a:bodyPr wrap="square" lIns="0" tIns="0" rIns="0" bIns="0" rtlCol="0" anchor="ctr"/>
          <a:lstStyle/>
          <a:p>
            <a:pPr indent="0" marL="0">
              <a:buNone/>
            </a:pPr>
            <a:r>
              <a:rPr lang="en-US" sz="1600" dirty="0">
                <a:solidFill>
                  <a:srgbClr val="6B6255"/>
                </a:solidFill>
                <a:latin typeface="Calibri" pitchFamily="34" charset="0"/>
                <a:ea typeface="Calibri" pitchFamily="34" charset="-122"/>
                <a:cs typeface="Calibri" pitchFamily="34" charset="-120"/>
              </a:rPr>
              <a:t>Questions &amp; discussion</a:t>
            </a:r>
            <a:endParaRPr lang="en-US" sz="1600" dirty="0"/>
          </a:p>
        </p:txBody>
      </p:sp>
      <p:sp>
        <p:nvSpPr>
          <p:cNvPr id="4" name="Text 2"/>
          <p:cNvSpPr/>
          <p:nvPr/>
        </p:nvSpPr>
        <p:spPr>
          <a:xfrm>
            <a:off x="822960" y="6035040"/>
            <a:ext cx="10515600" cy="320040"/>
          </a:xfrm>
          <a:prstGeom prst="rect">
            <a:avLst/>
          </a:prstGeom>
          <a:noFill/>
          <a:ln/>
        </p:spPr>
        <p:txBody>
          <a:bodyPr wrap="square" lIns="0" tIns="0" rIns="0" bIns="0" rtlCol="0" anchor="ctr"/>
          <a:lstStyle/>
          <a:p>
            <a:pPr indent="0" marL="0">
              <a:buNone/>
            </a:pPr>
            <a:r>
              <a:rPr lang="en-US" sz="1100" dirty="0">
                <a:solidFill>
                  <a:srgbClr val="6B6255"/>
                </a:solidFill>
                <a:latin typeface="Calibri" pitchFamily="34" charset="0"/>
                <a:ea typeface="Calibri" pitchFamily="34" charset="-122"/>
                <a:cs typeface="Calibri" pitchFamily="34" charset="-120"/>
              </a:rPr>
              <a:t>Group 9 · Dubai &amp; Abu Dhabi Real Estate Rental Market Intelligence Dashboard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2026-08-05T06:32:25Z</dcterms:created>
  <dcterms:modified xsi:type="dcterms:W3CDTF">2026-08-05T06:32:25Z</dcterms:modified>
</cp:coreProperties>
</file>